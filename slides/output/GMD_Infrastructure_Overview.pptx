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366"/>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7722"/>
          </a:solidFill>
          <a:ln w="12700">
            <a:solidFill>
              <a:srgbClr val="E87722"/>
            </a:solidFill>
            <a:prstDash val="solid"/>
          </a:ln>
        </p:spPr>
      </p:sp>
      <p:sp>
        <p:nvSpPr>
          <p:cNvPr id="3" name="Text 1"/>
          <p:cNvSpPr/>
          <p:nvPr/>
        </p:nvSpPr>
        <p:spPr>
          <a:xfrm>
            <a:off x="365760" y="274320"/>
            <a:ext cx="8412480" cy="320040"/>
          </a:xfrm>
          <a:prstGeom prst="rect">
            <a:avLst/>
          </a:prstGeom>
          <a:noFill/>
          <a:ln/>
        </p:spPr>
        <p:txBody>
          <a:bodyPr wrap="square" rtlCol="0" anchor="ctr"/>
          <a:lstStyle/>
          <a:p>
            <a:pPr indent="0" marL="0">
              <a:buNone/>
            </a:pPr>
            <a:r>
              <a:rPr lang="en-US" sz="1000" b="1" spc="400" kern="0" dirty="0">
                <a:solidFill>
                  <a:srgbClr val="A0C4E8"/>
                </a:solidFill>
                <a:latin typeface="Arial" pitchFamily="34" charset="0"/>
                <a:ea typeface="Arial" pitchFamily="34" charset="-122"/>
                <a:cs typeface="Arial" pitchFamily="34" charset="-120"/>
              </a:rPr>
              <a:t>WORLD BANK GROUP  |  DEVELOPMENT DATA GROUP</a:t>
            </a:r>
            <a:endParaRPr lang="en-US" sz="1000" dirty="0"/>
          </a:p>
        </p:txBody>
      </p:sp>
      <p:sp>
        <p:nvSpPr>
          <p:cNvPr id="4" name="Text 2"/>
          <p:cNvSpPr/>
          <p:nvPr/>
        </p:nvSpPr>
        <p:spPr>
          <a:xfrm>
            <a:off x="365760" y="822960"/>
            <a:ext cx="6858000" cy="822960"/>
          </a:xfrm>
          <a:prstGeom prst="rect">
            <a:avLst/>
          </a:prstGeom>
          <a:noFill/>
          <a:ln/>
        </p:spPr>
        <p:txBody>
          <a:bodyPr wrap="square" rtlCol="0" anchor="ctr"/>
          <a:lstStyle/>
          <a:p>
            <a:pPr indent="0" marL="0">
              <a:buNone/>
            </a:pPr>
            <a:r>
              <a:rPr lang="en-US" sz="3600" b="1" dirty="0">
                <a:solidFill>
                  <a:srgbClr val="FFFFFF"/>
                </a:solidFill>
                <a:latin typeface="Arial" pitchFamily="34" charset="0"/>
                <a:ea typeface="Arial" pitchFamily="34" charset="-122"/>
                <a:cs typeface="Arial" pitchFamily="34" charset="-120"/>
              </a:rPr>
              <a:t>GMD AI-Assisted Harmonization</a:t>
            </a:r>
            <a:endParaRPr lang="en-US" sz="3600" dirty="0"/>
          </a:p>
        </p:txBody>
      </p:sp>
      <p:sp>
        <p:nvSpPr>
          <p:cNvPr id="5" name="Text 3"/>
          <p:cNvSpPr/>
          <p:nvPr/>
        </p:nvSpPr>
        <p:spPr>
          <a:xfrm>
            <a:off x="365760" y="1600200"/>
            <a:ext cx="6858000" cy="594360"/>
          </a:xfrm>
          <a:prstGeom prst="rect">
            <a:avLst/>
          </a:prstGeom>
          <a:noFill/>
          <a:ln/>
        </p:spPr>
        <p:txBody>
          <a:bodyPr wrap="square" rtlCol="0" anchor="ctr"/>
          <a:lstStyle/>
          <a:p>
            <a:pPr indent="0" marL="0">
              <a:buNone/>
            </a:pPr>
            <a:r>
              <a:rPr lang="en-US" sz="2800" dirty="0">
                <a:solidFill>
                  <a:srgbClr val="7BBDE8"/>
                </a:solidFill>
                <a:latin typeface="Arial" pitchFamily="34" charset="0"/>
                <a:ea typeface="Arial" pitchFamily="34" charset="-122"/>
                <a:cs typeface="Arial" pitchFamily="34" charset="-120"/>
              </a:rPr>
              <a:t>Infrastructure Requirements</a:t>
            </a:r>
            <a:endParaRPr lang="en-US" sz="2800" dirty="0"/>
          </a:p>
        </p:txBody>
      </p:sp>
      <p:sp>
        <p:nvSpPr>
          <p:cNvPr id="6" name="Shape 4"/>
          <p:cNvSpPr/>
          <p:nvPr/>
        </p:nvSpPr>
        <p:spPr>
          <a:xfrm>
            <a:off x="365760" y="2331720"/>
            <a:ext cx="5029200" cy="36576"/>
          </a:xfrm>
          <a:prstGeom prst="rect">
            <a:avLst/>
          </a:prstGeom>
          <a:solidFill>
            <a:srgbClr val="E87722"/>
          </a:solidFill>
          <a:ln w="12700">
            <a:solidFill>
              <a:srgbClr val="E87722"/>
            </a:solidFill>
            <a:prstDash val="solid"/>
          </a:ln>
        </p:spPr>
      </p:sp>
      <p:sp>
        <p:nvSpPr>
          <p:cNvPr id="7" name="Text 5"/>
          <p:cNvSpPr/>
          <p:nvPr/>
        </p:nvSpPr>
        <p:spPr>
          <a:xfrm>
            <a:off x="365760" y="2514600"/>
            <a:ext cx="7132320" cy="822960"/>
          </a:xfrm>
          <a:prstGeom prst="rect">
            <a:avLst/>
          </a:prstGeom>
          <a:noFill/>
          <a:ln/>
        </p:spPr>
        <p:txBody>
          <a:bodyPr wrap="square" rtlCol="0" anchor="ctr"/>
          <a:lstStyle/>
          <a:p>
            <a:pPr indent="0" marL="0">
              <a:buNone/>
            </a:pPr>
            <a:r>
              <a:rPr lang="en-US" sz="1300" i="1" dirty="0">
                <a:solidFill>
                  <a:srgbClr val="C8DCF0"/>
                </a:solidFill>
                <a:latin typeface="Arial" pitchFamily="34" charset="0"/>
                <a:ea typeface="Arial" pitchFamily="34" charset="-122"/>
                <a:cs typeface="Arial" pitchFamily="34" charset="-120"/>
              </a:rPr>
              <a:t>A plain-language guide for ITS — covering the six infrastructure</a:t>
            </a:r>
            <a:endParaRPr lang="en-US" sz="1300" dirty="0"/>
          </a:p>
          <a:p>
            <a:pPr indent="0" marL="0">
              <a:buNone/>
            </a:pPr>
            <a:r>
              <a:rPr lang="en-US" sz="1300" i="1" dirty="0">
                <a:solidFill>
                  <a:srgbClr val="C8DCF0"/>
                </a:solidFill>
                <a:latin typeface="Arial" pitchFamily="34" charset="0"/>
                <a:ea typeface="Arial" pitchFamily="34" charset="-122"/>
                <a:cs typeface="Arial" pitchFamily="34" charset="-120"/>
              </a:rPr>
              <a:t>components the system needs and the key questions we must resolve.</a:t>
            </a:r>
            <a:endParaRPr lang="en-US" sz="1300" dirty="0"/>
          </a:p>
        </p:txBody>
      </p:sp>
      <p:sp>
        <p:nvSpPr>
          <p:cNvPr id="8" name="Text 6"/>
          <p:cNvSpPr/>
          <p:nvPr/>
        </p:nvSpPr>
        <p:spPr>
          <a:xfrm>
            <a:off x="365760" y="4663440"/>
            <a:ext cx="8229600" cy="320040"/>
          </a:xfrm>
          <a:prstGeom prst="rect">
            <a:avLst/>
          </a:prstGeom>
          <a:noFill/>
          <a:ln/>
        </p:spPr>
        <p:txBody>
          <a:bodyPr wrap="square" rtlCol="0" anchor="ctr"/>
          <a:lstStyle/>
          <a:p>
            <a:pPr indent="0" marL="0">
              <a:buNone/>
            </a:pPr>
            <a:r>
              <a:rPr lang="en-US" sz="1000" dirty="0">
                <a:solidFill>
                  <a:srgbClr val="555555"/>
                </a:solidFill>
                <a:latin typeface="Arial" pitchFamily="34" charset="0"/>
                <a:ea typeface="Arial" pitchFamily="34" charset="-122"/>
                <a:cs typeface="Arial" pitchFamily="34" charset="-120"/>
              </a:rPr>
              <a:t>GMD Harmonization Team  |  May 2026  |  DRAFT v1.0</a:t>
            </a:r>
            <a:endParaRPr lang="en-US" sz="1000" dirty="0"/>
          </a:p>
        </p:txBody>
      </p:sp>
      <p:sp>
        <p:nvSpPr>
          <p:cNvPr id="9" name="Shape 7"/>
          <p:cNvSpPr/>
          <p:nvPr/>
        </p:nvSpPr>
        <p:spPr>
          <a:xfrm>
            <a:off x="7132320" y="274320"/>
            <a:ext cx="2011680" cy="2011680"/>
          </a:xfrm>
          <a:prstGeom prst="ellipse">
            <a:avLst/>
          </a:prstGeom>
          <a:solidFill>
            <a:srgbClr val="0071BC">
              <a:alpha val="25000"/>
            </a:srgbClr>
          </a:solidFill>
          <a:ln w="12700">
            <a:solidFill>
              <a:srgbClr val="0071BC">
                <a:alpha val="25000"/>
              </a:srgbClr>
            </a:solidFill>
            <a:prstDash val="solid"/>
          </a:ln>
        </p:spPr>
      </p:sp>
      <p:sp>
        <p:nvSpPr>
          <p:cNvPr id="10" name="Shape 8"/>
          <p:cNvSpPr/>
          <p:nvPr/>
        </p:nvSpPr>
        <p:spPr>
          <a:xfrm>
            <a:off x="7589520" y="2377440"/>
            <a:ext cx="1554480" cy="1554480"/>
          </a:xfrm>
          <a:prstGeom prst="ellipse">
            <a:avLst/>
          </a:prstGeom>
          <a:solidFill>
            <a:srgbClr val="E87722">
              <a:alpha val="20000"/>
            </a:srgbClr>
          </a:solidFill>
          <a:ln w="12700">
            <a:solidFill>
              <a:srgbClr val="E87722">
                <a:alpha val="20000"/>
              </a:srgbClr>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3366"/>
          </a:solidFill>
          <a:ln w="12700">
            <a:solidFill>
              <a:srgbClr val="003366"/>
            </a:solidFill>
            <a:prstDash val="solid"/>
          </a:ln>
        </p:spPr>
      </p:sp>
      <p:sp>
        <p:nvSpPr>
          <p:cNvPr id="3" name="Text 1"/>
          <p:cNvSpPr/>
          <p:nvPr/>
        </p:nvSpPr>
        <p:spPr>
          <a:xfrm>
            <a:off x="320040" y="91440"/>
            <a:ext cx="8229600" cy="475488"/>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What We Are Building</a:t>
            </a:r>
            <a:endParaRPr lang="en-US" sz="2200" dirty="0"/>
          </a:p>
        </p:txBody>
      </p:sp>
      <p:sp>
        <p:nvSpPr>
          <p:cNvPr id="4" name="Shape 2"/>
          <p:cNvSpPr/>
          <p:nvPr/>
        </p:nvSpPr>
        <p:spPr>
          <a:xfrm>
            <a:off x="274320" y="822960"/>
            <a:ext cx="2743200" cy="3474720"/>
          </a:xfrm>
          <a:prstGeom prst="rect">
            <a:avLst/>
          </a:prstGeom>
          <a:solidFill>
            <a:srgbClr val="FFFFFF"/>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5" name="Shape 3"/>
          <p:cNvSpPr/>
          <p:nvPr/>
        </p:nvSpPr>
        <p:spPr>
          <a:xfrm>
            <a:off x="274320" y="822960"/>
            <a:ext cx="2743200" cy="502920"/>
          </a:xfrm>
          <a:prstGeom prst="rect">
            <a:avLst/>
          </a:prstGeom>
          <a:solidFill>
            <a:srgbClr val="0071BC"/>
          </a:solidFill>
          <a:ln w="12700">
            <a:solidFill>
              <a:srgbClr val="0071BC"/>
            </a:solidFill>
            <a:prstDash val="solid"/>
          </a:ln>
        </p:spPr>
      </p:sp>
      <p:sp>
        <p:nvSpPr>
          <p:cNvPr id="6" name="Text 4"/>
          <p:cNvSpPr/>
          <p:nvPr/>
        </p:nvSpPr>
        <p:spPr>
          <a:xfrm>
            <a:off x="274320" y="82296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7" name="Text 5"/>
          <p:cNvSpPr/>
          <p:nvPr/>
        </p:nvSpPr>
        <p:spPr>
          <a:xfrm>
            <a:off x="777240" y="822960"/>
            <a:ext cx="2240280" cy="502920"/>
          </a:xfrm>
          <a:prstGeom prst="rect">
            <a:avLst/>
          </a:prstGeom>
          <a:noFill/>
          <a:ln/>
        </p:spPr>
        <p:txBody>
          <a:bodyPr wrap="square" lIns="50800" tIns="50800" rIns="50800" bIns="50800" rtlCol="0" anchor="ctr"/>
          <a:lstStyle/>
          <a:p>
            <a:pPr indent="0" marL="0">
              <a:buNone/>
            </a:pPr>
            <a:r>
              <a:rPr lang="en-US" sz="1100" b="1" dirty="0">
                <a:solidFill>
                  <a:srgbClr val="FFFFFF"/>
                </a:solidFill>
                <a:latin typeface="Arial" pitchFamily="34" charset="0"/>
                <a:ea typeface="Arial" pitchFamily="34" charset="-122"/>
                <a:cs typeface="Arial" pitchFamily="34" charset="-120"/>
              </a:rPr>
              <a:t>AI DRAFTS</a:t>
            </a:r>
            <a:endParaRPr lang="en-US" sz="1100" dirty="0"/>
          </a:p>
        </p:txBody>
      </p:sp>
      <p:sp>
        <p:nvSpPr>
          <p:cNvPr id="8" name="Text 6"/>
          <p:cNvSpPr/>
          <p:nvPr/>
        </p:nvSpPr>
        <p:spPr>
          <a:xfrm>
            <a:off x="411480" y="1481328"/>
            <a:ext cx="2468880" cy="2560320"/>
          </a:xfrm>
          <a:prstGeom prst="rect">
            <a:avLst/>
          </a:prstGeom>
          <a:noFill/>
          <a:ln/>
        </p:spPr>
        <p:txBody>
          <a:bodyPr wrap="square" rtlCol="0" anchor="ctr"/>
          <a:lstStyle/>
          <a:p>
            <a:pPr indent="0" marL="0">
              <a:buNone/>
            </a:pPr>
            <a:r>
              <a:rPr lang="en-US" sz="1200" dirty="0">
                <a:solidFill>
                  <a:srgbClr val="333333"/>
                </a:solidFill>
                <a:latin typeface="Arial" pitchFamily="34" charset="0"/>
                <a:ea typeface="Arial" pitchFamily="34" charset="-122"/>
                <a:cs typeface="Arial" pitchFamily="34" charset="-120"/>
              </a:rPr>
              <a:t>Reads survey documentation and produces a Harmonization Specification — a structured proposal for how each variable should be mapped.</a:t>
            </a:r>
            <a:endParaRPr lang="en-US" sz="1200" dirty="0"/>
          </a:p>
        </p:txBody>
      </p:sp>
      <p:sp>
        <p:nvSpPr>
          <p:cNvPr id="9" name="Shape 7"/>
          <p:cNvSpPr/>
          <p:nvPr/>
        </p:nvSpPr>
        <p:spPr>
          <a:xfrm>
            <a:off x="3017520" y="2423160"/>
            <a:ext cx="182880" cy="73152"/>
          </a:xfrm>
          <a:prstGeom prst="rect">
            <a:avLst/>
          </a:prstGeom>
          <a:solidFill>
            <a:srgbClr val="555555"/>
          </a:solidFill>
          <a:ln w="12700">
            <a:solidFill>
              <a:srgbClr val="555555"/>
            </a:solidFill>
            <a:prstDash val="solid"/>
          </a:ln>
        </p:spPr>
      </p:sp>
      <p:sp>
        <p:nvSpPr>
          <p:cNvPr id="10" name="Shape 8"/>
          <p:cNvSpPr/>
          <p:nvPr/>
        </p:nvSpPr>
        <p:spPr>
          <a:xfrm>
            <a:off x="3200400" y="822960"/>
            <a:ext cx="2743200" cy="3474720"/>
          </a:xfrm>
          <a:prstGeom prst="rect">
            <a:avLst/>
          </a:prstGeom>
          <a:solidFill>
            <a:srgbClr val="FFFFFF"/>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11" name="Shape 9"/>
          <p:cNvSpPr/>
          <p:nvPr/>
        </p:nvSpPr>
        <p:spPr>
          <a:xfrm>
            <a:off x="3200400" y="822960"/>
            <a:ext cx="2743200" cy="502920"/>
          </a:xfrm>
          <a:prstGeom prst="rect">
            <a:avLst/>
          </a:prstGeom>
          <a:solidFill>
            <a:srgbClr val="E87722"/>
          </a:solidFill>
          <a:ln w="12700">
            <a:solidFill>
              <a:srgbClr val="E87722"/>
            </a:solidFill>
            <a:prstDash val="solid"/>
          </a:ln>
        </p:spPr>
      </p:sp>
      <p:sp>
        <p:nvSpPr>
          <p:cNvPr id="12" name="Text 10"/>
          <p:cNvSpPr/>
          <p:nvPr/>
        </p:nvSpPr>
        <p:spPr>
          <a:xfrm>
            <a:off x="3200400" y="82296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13" name="Text 11"/>
          <p:cNvSpPr/>
          <p:nvPr/>
        </p:nvSpPr>
        <p:spPr>
          <a:xfrm>
            <a:off x="3703320" y="822960"/>
            <a:ext cx="2240280" cy="502920"/>
          </a:xfrm>
          <a:prstGeom prst="rect">
            <a:avLst/>
          </a:prstGeom>
          <a:noFill/>
          <a:ln/>
        </p:spPr>
        <p:txBody>
          <a:bodyPr wrap="square" lIns="50800" tIns="50800" rIns="50800" bIns="50800" rtlCol="0" anchor="ctr"/>
          <a:lstStyle/>
          <a:p>
            <a:pPr indent="0" marL="0">
              <a:buNone/>
            </a:pPr>
            <a:r>
              <a:rPr lang="en-US" sz="1100" b="1" dirty="0">
                <a:solidFill>
                  <a:srgbClr val="FFFFFF"/>
                </a:solidFill>
                <a:latin typeface="Arial" pitchFamily="34" charset="0"/>
                <a:ea typeface="Arial" pitchFamily="34" charset="-122"/>
                <a:cs typeface="Arial" pitchFamily="34" charset="-120"/>
              </a:rPr>
              <a:t>HUMAN APPROVES</a:t>
            </a:r>
            <a:endParaRPr lang="en-US" sz="1100" dirty="0"/>
          </a:p>
        </p:txBody>
      </p:sp>
      <p:sp>
        <p:nvSpPr>
          <p:cNvPr id="14" name="Text 12"/>
          <p:cNvSpPr/>
          <p:nvPr/>
        </p:nvSpPr>
        <p:spPr>
          <a:xfrm>
            <a:off x="3337560" y="1481328"/>
            <a:ext cx="2468880" cy="2560320"/>
          </a:xfrm>
          <a:prstGeom prst="rect">
            <a:avLst/>
          </a:prstGeom>
          <a:noFill/>
          <a:ln/>
        </p:spPr>
        <p:txBody>
          <a:bodyPr wrap="square" rtlCol="0" anchor="ctr"/>
          <a:lstStyle/>
          <a:p>
            <a:pPr indent="0" marL="0">
              <a:buNone/>
            </a:pPr>
            <a:r>
              <a:rPr lang="en-US" sz="1200" dirty="0">
                <a:solidFill>
                  <a:srgbClr val="333333"/>
                </a:solidFill>
                <a:latin typeface="Arial" pitchFamily="34" charset="0"/>
                <a:ea typeface="Arial" pitchFamily="34" charset="-122"/>
                <a:cs typeface="Arial" pitchFamily="34" charset="-120"/>
              </a:rPr>
              <a:t>An expert reviews the draft, makes corrections if needed, and gives explicit sign-off. Nothing runs without this step.</a:t>
            </a:r>
            <a:endParaRPr lang="en-US" sz="1200" dirty="0"/>
          </a:p>
        </p:txBody>
      </p:sp>
      <p:sp>
        <p:nvSpPr>
          <p:cNvPr id="15" name="Shape 13"/>
          <p:cNvSpPr/>
          <p:nvPr/>
        </p:nvSpPr>
        <p:spPr>
          <a:xfrm>
            <a:off x="5943600" y="2423160"/>
            <a:ext cx="182880" cy="73152"/>
          </a:xfrm>
          <a:prstGeom prst="rect">
            <a:avLst/>
          </a:prstGeom>
          <a:solidFill>
            <a:srgbClr val="555555"/>
          </a:solidFill>
          <a:ln w="12700">
            <a:solidFill>
              <a:srgbClr val="555555"/>
            </a:solidFill>
            <a:prstDash val="solid"/>
          </a:ln>
        </p:spPr>
      </p:sp>
      <p:sp>
        <p:nvSpPr>
          <p:cNvPr id="16" name="Shape 14"/>
          <p:cNvSpPr/>
          <p:nvPr/>
        </p:nvSpPr>
        <p:spPr>
          <a:xfrm>
            <a:off x="6126480" y="822960"/>
            <a:ext cx="2743200" cy="3474720"/>
          </a:xfrm>
          <a:prstGeom prst="rect">
            <a:avLst/>
          </a:prstGeom>
          <a:solidFill>
            <a:srgbClr val="FFFFFF"/>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17" name="Shape 15"/>
          <p:cNvSpPr/>
          <p:nvPr/>
        </p:nvSpPr>
        <p:spPr>
          <a:xfrm>
            <a:off x="6126480" y="822960"/>
            <a:ext cx="2743200" cy="502920"/>
          </a:xfrm>
          <a:prstGeom prst="rect">
            <a:avLst/>
          </a:prstGeom>
          <a:solidFill>
            <a:srgbClr val="1A6B3A"/>
          </a:solidFill>
          <a:ln w="12700">
            <a:solidFill>
              <a:srgbClr val="1A6B3A"/>
            </a:solidFill>
            <a:prstDash val="solid"/>
          </a:ln>
        </p:spPr>
      </p:sp>
      <p:sp>
        <p:nvSpPr>
          <p:cNvPr id="18" name="Text 16"/>
          <p:cNvSpPr/>
          <p:nvPr/>
        </p:nvSpPr>
        <p:spPr>
          <a:xfrm>
            <a:off x="6126480" y="82296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19" name="Text 17"/>
          <p:cNvSpPr/>
          <p:nvPr/>
        </p:nvSpPr>
        <p:spPr>
          <a:xfrm>
            <a:off x="6629400" y="822960"/>
            <a:ext cx="2240280" cy="502920"/>
          </a:xfrm>
          <a:prstGeom prst="rect">
            <a:avLst/>
          </a:prstGeom>
          <a:noFill/>
          <a:ln/>
        </p:spPr>
        <p:txBody>
          <a:bodyPr wrap="square" lIns="50800" tIns="50800" rIns="50800" bIns="50800" rtlCol="0" anchor="ctr"/>
          <a:lstStyle/>
          <a:p>
            <a:pPr indent="0" marL="0">
              <a:buNone/>
            </a:pPr>
            <a:r>
              <a:rPr lang="en-US" sz="1100" b="1" dirty="0">
                <a:solidFill>
                  <a:srgbClr val="FFFFFF"/>
                </a:solidFill>
                <a:latin typeface="Arial" pitchFamily="34" charset="0"/>
                <a:ea typeface="Arial" pitchFamily="34" charset="-122"/>
                <a:cs typeface="Arial" pitchFamily="34" charset="-120"/>
              </a:rPr>
              <a:t>ENGINE EXECUTES</a:t>
            </a:r>
            <a:endParaRPr lang="en-US" sz="1100" dirty="0"/>
          </a:p>
        </p:txBody>
      </p:sp>
      <p:sp>
        <p:nvSpPr>
          <p:cNvPr id="20" name="Text 18"/>
          <p:cNvSpPr/>
          <p:nvPr/>
        </p:nvSpPr>
        <p:spPr>
          <a:xfrm>
            <a:off x="6263640" y="1481328"/>
            <a:ext cx="2468880" cy="2560320"/>
          </a:xfrm>
          <a:prstGeom prst="rect">
            <a:avLst/>
          </a:prstGeom>
          <a:noFill/>
          <a:ln/>
        </p:spPr>
        <p:txBody>
          <a:bodyPr wrap="square" rtlCol="0" anchor="ctr"/>
          <a:lstStyle/>
          <a:p>
            <a:pPr indent="0" marL="0">
              <a:buNone/>
            </a:pPr>
            <a:r>
              <a:rPr lang="en-US" sz="1200" dirty="0">
                <a:solidFill>
                  <a:srgbClr val="333333"/>
                </a:solidFill>
                <a:latin typeface="Arial" pitchFamily="34" charset="0"/>
                <a:ea typeface="Arial" pitchFamily="34" charset="-122"/>
                <a:cs typeface="Arial" pitchFamily="34" charset="-120"/>
              </a:rPr>
              <a:t>A deterministic (non-AI) script executes the approved specification. Same input always produces the same output.</a:t>
            </a:r>
            <a:endParaRPr lang="en-US" sz="1200" dirty="0"/>
          </a:p>
        </p:txBody>
      </p:sp>
      <p:sp>
        <p:nvSpPr>
          <p:cNvPr id="21" name="Shape 19"/>
          <p:cNvSpPr/>
          <p:nvPr/>
        </p:nvSpPr>
        <p:spPr>
          <a:xfrm>
            <a:off x="274320" y="4480560"/>
            <a:ext cx="8595360" cy="502920"/>
          </a:xfrm>
          <a:prstGeom prst="rect">
            <a:avLst/>
          </a:prstGeom>
          <a:solidFill>
            <a:srgbClr val="D5E8F0"/>
          </a:solidFill>
          <a:ln w="12700">
            <a:solidFill>
              <a:srgbClr val="0071BC"/>
            </a:solidFill>
            <a:prstDash val="solid"/>
          </a:ln>
        </p:spPr>
      </p:sp>
      <p:sp>
        <p:nvSpPr>
          <p:cNvPr id="22" name="Text 20"/>
          <p:cNvSpPr/>
          <p:nvPr/>
        </p:nvSpPr>
        <p:spPr>
          <a:xfrm>
            <a:off x="457200" y="4498848"/>
            <a:ext cx="8321040" cy="457200"/>
          </a:xfrm>
          <a:prstGeom prst="rect">
            <a:avLst/>
          </a:prstGeom>
          <a:noFill/>
          <a:ln/>
        </p:spPr>
        <p:txBody>
          <a:bodyPr wrap="square" rtlCol="0" anchor="ctr"/>
          <a:lstStyle/>
          <a:p>
            <a:pPr indent="0" marL="0">
              <a:buNone/>
            </a:pPr>
            <a:r>
              <a:rPr lang="en-US" sz="1100" i="1" dirty="0">
                <a:solidFill>
                  <a:srgbClr val="003366"/>
                </a:solidFill>
                <a:latin typeface="Arial" pitchFamily="34" charset="0"/>
                <a:ea typeface="Arial" pitchFamily="34" charset="-122"/>
                <a:cs typeface="Arial" pitchFamily="34" charset="-120"/>
              </a:rPr>
              <a:t>The AI assists — it does not decide. Human approval is required at every variable-level decision before anything touches production data.</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3366"/>
          </a:solidFill>
          <a:ln w="12700">
            <a:solidFill>
              <a:srgbClr val="003366"/>
            </a:solidFill>
            <a:prstDash val="solid"/>
          </a:ln>
        </p:spPr>
      </p:sp>
      <p:sp>
        <p:nvSpPr>
          <p:cNvPr id="3" name="Text 1"/>
          <p:cNvSpPr/>
          <p:nvPr/>
        </p:nvSpPr>
        <p:spPr>
          <a:xfrm>
            <a:off x="320040" y="91440"/>
            <a:ext cx="8229600" cy="475488"/>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Six Infrastructure Components at a Glance</a:t>
            </a:r>
            <a:endParaRPr lang="en-US" sz="2200" dirty="0"/>
          </a:p>
        </p:txBody>
      </p:sp>
      <p:sp>
        <p:nvSpPr>
          <p:cNvPr id="4" name="Shape 2"/>
          <p:cNvSpPr/>
          <p:nvPr/>
        </p:nvSpPr>
        <p:spPr>
          <a:xfrm>
            <a:off x="228600" y="822960"/>
            <a:ext cx="2743200" cy="1828800"/>
          </a:xfrm>
          <a:prstGeom prst="rect">
            <a:avLst/>
          </a:prstGeom>
          <a:solidFill>
            <a:srgbClr val="FFFFFF"/>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5" name="Shape 3"/>
          <p:cNvSpPr/>
          <p:nvPr/>
        </p:nvSpPr>
        <p:spPr>
          <a:xfrm>
            <a:off x="228600" y="822960"/>
            <a:ext cx="594360" cy="1828800"/>
          </a:xfrm>
          <a:prstGeom prst="rect">
            <a:avLst/>
          </a:prstGeom>
          <a:solidFill>
            <a:srgbClr val="065A82"/>
          </a:solidFill>
          <a:ln w="12700">
            <a:solidFill>
              <a:srgbClr val="065A82"/>
            </a:solidFill>
            <a:prstDash val="solid"/>
          </a:ln>
        </p:spPr>
      </p:sp>
      <p:pic>
        <p:nvPicPr>
          <p:cNvPr id="6" name="Image 0" descr="preencoded.png">    </p:cNvPr>
          <p:cNvPicPr>
            <a:picLocks noChangeAspect="1"/>
          </p:cNvPicPr>
          <p:nvPr/>
        </p:nvPicPr>
        <p:blipFill>
          <a:blip r:embed="rId1"/>
          <a:stretch>
            <a:fillRect/>
          </a:stretch>
        </p:blipFill>
        <p:spPr>
          <a:xfrm>
            <a:off x="301752" y="1417320"/>
            <a:ext cx="438912" cy="438912"/>
          </a:xfrm>
          <a:prstGeom prst="rect">
            <a:avLst/>
          </a:prstGeom>
        </p:spPr>
      </p:pic>
      <p:sp>
        <p:nvSpPr>
          <p:cNvPr id="7" name="Text 4"/>
          <p:cNvSpPr/>
          <p:nvPr/>
        </p:nvSpPr>
        <p:spPr>
          <a:xfrm>
            <a:off x="228600" y="822960"/>
            <a:ext cx="594360"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8" name="Text 5"/>
          <p:cNvSpPr/>
          <p:nvPr/>
        </p:nvSpPr>
        <p:spPr>
          <a:xfrm>
            <a:off x="886968" y="987552"/>
            <a:ext cx="2011680" cy="457200"/>
          </a:xfrm>
          <a:prstGeom prst="rect">
            <a:avLst/>
          </a:prstGeom>
          <a:noFill/>
          <a:ln/>
        </p:spPr>
        <p:txBody>
          <a:bodyPr wrap="square" rtlCol="0" anchor="ctr"/>
          <a:lstStyle/>
          <a:p>
            <a:pPr indent="0" marL="0">
              <a:buNone/>
            </a:pPr>
            <a:r>
              <a:rPr lang="en-US" sz="1300" b="1" dirty="0">
                <a:solidFill>
                  <a:srgbClr val="111111"/>
                </a:solidFill>
                <a:latin typeface="Arial" pitchFamily="34" charset="0"/>
                <a:ea typeface="Arial" pitchFamily="34" charset="-122"/>
                <a:cs typeface="Arial" pitchFamily="34" charset="-120"/>
              </a:rPr>
              <a:t>File Storage</a:t>
            </a:r>
            <a:endParaRPr lang="en-US" sz="1300" dirty="0"/>
          </a:p>
        </p:txBody>
      </p:sp>
      <p:sp>
        <p:nvSpPr>
          <p:cNvPr id="9" name="Text 6"/>
          <p:cNvSpPr/>
          <p:nvPr/>
        </p:nvSpPr>
        <p:spPr>
          <a:xfrm>
            <a:off x="886968" y="1417320"/>
            <a:ext cx="2011680" cy="292608"/>
          </a:xfrm>
          <a:prstGeom prst="rect">
            <a:avLst/>
          </a:prstGeom>
          <a:noFill/>
          <a:ln/>
        </p:spPr>
        <p:txBody>
          <a:bodyPr wrap="square" rtlCol="0" anchor="ctr"/>
          <a:lstStyle/>
          <a:p>
            <a:pPr indent="0" marL="0">
              <a:buNone/>
            </a:pPr>
            <a:r>
              <a:rPr lang="en-US" sz="1000" i="1" dirty="0">
                <a:solidFill>
                  <a:srgbClr val="0071BC"/>
                </a:solidFill>
                <a:latin typeface="Arial" pitchFamily="34" charset="0"/>
                <a:ea typeface="Arial" pitchFamily="34" charset="-122"/>
                <a:cs typeface="Arial" pitchFamily="34" charset="-120"/>
              </a:rPr>
              <a:t>Azure Blob Storage</a:t>
            </a:r>
            <a:endParaRPr lang="en-US" sz="1000" dirty="0"/>
          </a:p>
        </p:txBody>
      </p:sp>
      <p:sp>
        <p:nvSpPr>
          <p:cNvPr id="10" name="Shape 7"/>
          <p:cNvSpPr/>
          <p:nvPr/>
        </p:nvSpPr>
        <p:spPr>
          <a:xfrm>
            <a:off x="3172968" y="822960"/>
            <a:ext cx="2743200" cy="1828800"/>
          </a:xfrm>
          <a:prstGeom prst="rect">
            <a:avLst/>
          </a:prstGeom>
          <a:solidFill>
            <a:srgbClr val="FFFFFF"/>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11" name="Shape 8"/>
          <p:cNvSpPr/>
          <p:nvPr/>
        </p:nvSpPr>
        <p:spPr>
          <a:xfrm>
            <a:off x="3172968" y="822960"/>
            <a:ext cx="594360" cy="1828800"/>
          </a:xfrm>
          <a:prstGeom prst="rect">
            <a:avLst/>
          </a:prstGeom>
          <a:solidFill>
            <a:srgbClr val="1A6B3A"/>
          </a:solidFill>
          <a:ln w="12700">
            <a:solidFill>
              <a:srgbClr val="1A6B3A"/>
            </a:solidFill>
            <a:prstDash val="solid"/>
          </a:ln>
        </p:spPr>
      </p:sp>
      <p:pic>
        <p:nvPicPr>
          <p:cNvPr id="12" name="Image 1" descr="preencoded.png">    </p:cNvPr>
          <p:cNvPicPr>
            <a:picLocks noChangeAspect="1"/>
          </p:cNvPicPr>
          <p:nvPr/>
        </p:nvPicPr>
        <p:blipFill>
          <a:blip r:embed="rId2"/>
          <a:stretch>
            <a:fillRect/>
          </a:stretch>
        </p:blipFill>
        <p:spPr>
          <a:xfrm>
            <a:off x="3246120" y="1417320"/>
            <a:ext cx="438912" cy="438912"/>
          </a:xfrm>
          <a:prstGeom prst="rect">
            <a:avLst/>
          </a:prstGeom>
        </p:spPr>
      </p:pic>
      <p:sp>
        <p:nvSpPr>
          <p:cNvPr id="13" name="Text 9"/>
          <p:cNvSpPr/>
          <p:nvPr/>
        </p:nvSpPr>
        <p:spPr>
          <a:xfrm>
            <a:off x="3172968" y="822960"/>
            <a:ext cx="594360"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4" name="Text 10"/>
          <p:cNvSpPr/>
          <p:nvPr/>
        </p:nvSpPr>
        <p:spPr>
          <a:xfrm>
            <a:off x="3831336" y="987552"/>
            <a:ext cx="2011680" cy="457200"/>
          </a:xfrm>
          <a:prstGeom prst="rect">
            <a:avLst/>
          </a:prstGeom>
          <a:noFill/>
          <a:ln/>
        </p:spPr>
        <p:txBody>
          <a:bodyPr wrap="square" rtlCol="0" anchor="ctr"/>
          <a:lstStyle/>
          <a:p>
            <a:pPr indent="0" marL="0">
              <a:buNone/>
            </a:pPr>
            <a:r>
              <a:rPr lang="en-US" sz="1300" b="1" dirty="0">
                <a:solidFill>
                  <a:srgbClr val="111111"/>
                </a:solidFill>
                <a:latin typeface="Arial" pitchFamily="34" charset="0"/>
                <a:ea typeface="Arial" pitchFamily="34" charset="-122"/>
                <a:cs typeface="Arial" pitchFamily="34" charset="-120"/>
              </a:rPr>
              <a:t>Rules Database</a:t>
            </a:r>
            <a:endParaRPr lang="en-US" sz="1300" dirty="0"/>
          </a:p>
        </p:txBody>
      </p:sp>
      <p:sp>
        <p:nvSpPr>
          <p:cNvPr id="15" name="Text 11"/>
          <p:cNvSpPr/>
          <p:nvPr/>
        </p:nvSpPr>
        <p:spPr>
          <a:xfrm>
            <a:off x="3831336" y="1417320"/>
            <a:ext cx="2011680" cy="292608"/>
          </a:xfrm>
          <a:prstGeom prst="rect">
            <a:avLst/>
          </a:prstGeom>
          <a:noFill/>
          <a:ln/>
        </p:spPr>
        <p:txBody>
          <a:bodyPr wrap="square" rtlCol="0" anchor="ctr"/>
          <a:lstStyle/>
          <a:p>
            <a:pPr indent="0" marL="0">
              <a:buNone/>
            </a:pPr>
            <a:r>
              <a:rPr lang="en-US" sz="1000" i="1" dirty="0">
                <a:solidFill>
                  <a:srgbClr val="0071BC"/>
                </a:solidFill>
                <a:latin typeface="Arial" pitchFamily="34" charset="0"/>
                <a:ea typeface="Arial" pitchFamily="34" charset="-122"/>
                <a:cs typeface="Arial" pitchFamily="34" charset="-120"/>
              </a:rPr>
              <a:t>Azure SQL / PostgreSQL</a:t>
            </a:r>
            <a:endParaRPr lang="en-US" sz="1000" dirty="0"/>
          </a:p>
        </p:txBody>
      </p:sp>
      <p:sp>
        <p:nvSpPr>
          <p:cNvPr id="16" name="Shape 12"/>
          <p:cNvSpPr/>
          <p:nvPr/>
        </p:nvSpPr>
        <p:spPr>
          <a:xfrm>
            <a:off x="6117336" y="822960"/>
            <a:ext cx="2743200" cy="1828800"/>
          </a:xfrm>
          <a:prstGeom prst="rect">
            <a:avLst/>
          </a:prstGeom>
          <a:solidFill>
            <a:srgbClr val="FFFFFF"/>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17" name="Shape 13"/>
          <p:cNvSpPr/>
          <p:nvPr/>
        </p:nvSpPr>
        <p:spPr>
          <a:xfrm>
            <a:off x="6117336" y="822960"/>
            <a:ext cx="594360" cy="1828800"/>
          </a:xfrm>
          <a:prstGeom prst="rect">
            <a:avLst/>
          </a:prstGeom>
          <a:solidFill>
            <a:srgbClr val="C62828"/>
          </a:solidFill>
          <a:ln w="12700">
            <a:solidFill>
              <a:srgbClr val="C62828"/>
            </a:solidFill>
            <a:prstDash val="solid"/>
          </a:ln>
        </p:spPr>
      </p:sp>
      <p:pic>
        <p:nvPicPr>
          <p:cNvPr id="18" name="Image 2" descr="preencoded.png">    </p:cNvPr>
          <p:cNvPicPr>
            <a:picLocks noChangeAspect="1"/>
          </p:cNvPicPr>
          <p:nvPr/>
        </p:nvPicPr>
        <p:blipFill>
          <a:blip r:embed="rId3"/>
          <a:stretch>
            <a:fillRect/>
          </a:stretch>
        </p:blipFill>
        <p:spPr>
          <a:xfrm>
            <a:off x="6190488" y="1417320"/>
            <a:ext cx="438912" cy="438912"/>
          </a:xfrm>
          <a:prstGeom prst="rect">
            <a:avLst/>
          </a:prstGeom>
        </p:spPr>
      </p:pic>
      <p:sp>
        <p:nvSpPr>
          <p:cNvPr id="19" name="Text 14"/>
          <p:cNvSpPr/>
          <p:nvPr/>
        </p:nvSpPr>
        <p:spPr>
          <a:xfrm>
            <a:off x="6117336" y="822960"/>
            <a:ext cx="594360"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20" name="Text 15"/>
          <p:cNvSpPr/>
          <p:nvPr/>
        </p:nvSpPr>
        <p:spPr>
          <a:xfrm>
            <a:off x="6775704" y="987552"/>
            <a:ext cx="2011680" cy="457200"/>
          </a:xfrm>
          <a:prstGeom prst="rect">
            <a:avLst/>
          </a:prstGeom>
          <a:noFill/>
          <a:ln/>
        </p:spPr>
        <p:txBody>
          <a:bodyPr wrap="square" rtlCol="0" anchor="ctr"/>
          <a:lstStyle/>
          <a:p>
            <a:pPr indent="0" marL="0">
              <a:buNone/>
            </a:pPr>
            <a:r>
              <a:rPr lang="en-US" sz="1300" b="1" dirty="0">
                <a:solidFill>
                  <a:srgbClr val="111111"/>
                </a:solidFill>
                <a:latin typeface="Arial" pitchFamily="34" charset="0"/>
                <a:ea typeface="Arial" pitchFamily="34" charset="-122"/>
                <a:cs typeface="Arial" pitchFamily="34" charset="-120"/>
              </a:rPr>
              <a:t>AI Language Model</a:t>
            </a:r>
            <a:endParaRPr lang="en-US" sz="1300" dirty="0"/>
          </a:p>
        </p:txBody>
      </p:sp>
      <p:sp>
        <p:nvSpPr>
          <p:cNvPr id="21" name="Text 16"/>
          <p:cNvSpPr/>
          <p:nvPr/>
        </p:nvSpPr>
        <p:spPr>
          <a:xfrm>
            <a:off x="6775704" y="1417320"/>
            <a:ext cx="2011680" cy="292608"/>
          </a:xfrm>
          <a:prstGeom prst="rect">
            <a:avLst/>
          </a:prstGeom>
          <a:noFill/>
          <a:ln/>
        </p:spPr>
        <p:txBody>
          <a:bodyPr wrap="square" rtlCol="0" anchor="ctr"/>
          <a:lstStyle/>
          <a:p>
            <a:pPr indent="0" marL="0">
              <a:buNone/>
            </a:pPr>
            <a:r>
              <a:rPr lang="en-US" sz="1000" i="1" dirty="0">
                <a:solidFill>
                  <a:srgbClr val="0071BC"/>
                </a:solidFill>
                <a:latin typeface="Arial" pitchFamily="34" charset="0"/>
                <a:ea typeface="Arial" pitchFamily="34" charset="-122"/>
                <a:cs typeface="Arial" pitchFamily="34" charset="-120"/>
              </a:rPr>
              <a:t>Azure OpenAI Service</a:t>
            </a:r>
            <a:endParaRPr lang="en-US" sz="1000" dirty="0"/>
          </a:p>
        </p:txBody>
      </p:sp>
      <p:sp>
        <p:nvSpPr>
          <p:cNvPr id="22" name="Text 17"/>
          <p:cNvSpPr/>
          <p:nvPr/>
        </p:nvSpPr>
        <p:spPr>
          <a:xfrm>
            <a:off x="6775704" y="2103120"/>
            <a:ext cx="2011680" cy="256032"/>
          </a:xfrm>
          <a:prstGeom prst="rect">
            <a:avLst/>
          </a:prstGeom>
          <a:noFill/>
          <a:ln/>
        </p:spPr>
        <p:txBody>
          <a:bodyPr wrap="square" rtlCol="0" anchor="ctr"/>
          <a:lstStyle/>
          <a:p>
            <a:pPr indent="0" marL="0">
              <a:buNone/>
            </a:pPr>
            <a:r>
              <a:rPr lang="en-US" sz="900" b="1" dirty="0">
                <a:solidFill>
                  <a:srgbClr val="C62828"/>
                </a:solidFill>
                <a:latin typeface="Arial" pitchFamily="34" charset="0"/>
                <a:ea typeface="Arial" pitchFamily="34" charset="-122"/>
                <a:cs typeface="Arial" pitchFamily="34" charset="-120"/>
              </a:rPr>
              <a:t>★ Priority ITS question</a:t>
            </a:r>
            <a:endParaRPr lang="en-US" sz="900" dirty="0"/>
          </a:p>
        </p:txBody>
      </p:sp>
      <p:sp>
        <p:nvSpPr>
          <p:cNvPr id="23" name="Shape 18"/>
          <p:cNvSpPr/>
          <p:nvPr/>
        </p:nvSpPr>
        <p:spPr>
          <a:xfrm>
            <a:off x="228600" y="2907792"/>
            <a:ext cx="2743200" cy="1828800"/>
          </a:xfrm>
          <a:prstGeom prst="rect">
            <a:avLst/>
          </a:prstGeom>
          <a:solidFill>
            <a:srgbClr val="FFFFFF"/>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24" name="Shape 19"/>
          <p:cNvSpPr/>
          <p:nvPr/>
        </p:nvSpPr>
        <p:spPr>
          <a:xfrm>
            <a:off x="228600" y="2907792"/>
            <a:ext cx="594360" cy="1828800"/>
          </a:xfrm>
          <a:prstGeom prst="rect">
            <a:avLst/>
          </a:prstGeom>
          <a:solidFill>
            <a:srgbClr val="6A1B9A"/>
          </a:solidFill>
          <a:ln w="12700">
            <a:solidFill>
              <a:srgbClr val="6A1B9A"/>
            </a:solidFill>
            <a:prstDash val="solid"/>
          </a:ln>
        </p:spPr>
      </p:sp>
      <p:pic>
        <p:nvPicPr>
          <p:cNvPr id="25" name="Image 3" descr="preencoded.png">    </p:cNvPr>
          <p:cNvPicPr>
            <a:picLocks noChangeAspect="1"/>
          </p:cNvPicPr>
          <p:nvPr/>
        </p:nvPicPr>
        <p:blipFill>
          <a:blip r:embed="rId4"/>
          <a:stretch>
            <a:fillRect/>
          </a:stretch>
        </p:blipFill>
        <p:spPr>
          <a:xfrm>
            <a:off x="301752" y="3502152"/>
            <a:ext cx="438912" cy="438912"/>
          </a:xfrm>
          <a:prstGeom prst="rect">
            <a:avLst/>
          </a:prstGeom>
        </p:spPr>
      </p:pic>
      <p:sp>
        <p:nvSpPr>
          <p:cNvPr id="26" name="Text 20"/>
          <p:cNvSpPr/>
          <p:nvPr/>
        </p:nvSpPr>
        <p:spPr>
          <a:xfrm>
            <a:off x="228600" y="2907792"/>
            <a:ext cx="594360"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7" name="Text 21"/>
          <p:cNvSpPr/>
          <p:nvPr/>
        </p:nvSpPr>
        <p:spPr>
          <a:xfrm>
            <a:off x="886968" y="3072384"/>
            <a:ext cx="2011680" cy="457200"/>
          </a:xfrm>
          <a:prstGeom prst="rect">
            <a:avLst/>
          </a:prstGeom>
          <a:noFill/>
          <a:ln/>
        </p:spPr>
        <p:txBody>
          <a:bodyPr wrap="square" rtlCol="0" anchor="ctr"/>
          <a:lstStyle/>
          <a:p>
            <a:pPr indent="0" marL="0">
              <a:buNone/>
            </a:pPr>
            <a:r>
              <a:rPr lang="en-US" sz="1300" b="1" dirty="0">
                <a:solidFill>
                  <a:srgbClr val="111111"/>
                </a:solidFill>
                <a:latin typeface="Arial" pitchFamily="34" charset="0"/>
                <a:ea typeface="Arial" pitchFamily="34" charset="-122"/>
                <a:cs typeface="Arial" pitchFamily="34" charset="-120"/>
              </a:rPr>
              <a:t>Historical DB (RAG)</a:t>
            </a:r>
            <a:endParaRPr lang="en-US" sz="1300" dirty="0"/>
          </a:p>
        </p:txBody>
      </p:sp>
      <p:sp>
        <p:nvSpPr>
          <p:cNvPr id="28" name="Text 22"/>
          <p:cNvSpPr/>
          <p:nvPr/>
        </p:nvSpPr>
        <p:spPr>
          <a:xfrm>
            <a:off x="886968" y="3502152"/>
            <a:ext cx="2011680" cy="292608"/>
          </a:xfrm>
          <a:prstGeom prst="rect">
            <a:avLst/>
          </a:prstGeom>
          <a:noFill/>
          <a:ln/>
        </p:spPr>
        <p:txBody>
          <a:bodyPr wrap="square" rtlCol="0" anchor="ctr"/>
          <a:lstStyle/>
          <a:p>
            <a:pPr indent="0" marL="0">
              <a:buNone/>
            </a:pPr>
            <a:r>
              <a:rPr lang="en-US" sz="1000" i="1" dirty="0">
                <a:solidFill>
                  <a:srgbClr val="0071BC"/>
                </a:solidFill>
                <a:latin typeface="Arial" pitchFamily="34" charset="0"/>
                <a:ea typeface="Arial" pitchFamily="34" charset="-122"/>
                <a:cs typeface="Arial" pitchFamily="34" charset="-120"/>
              </a:rPr>
              <a:t>Azure AI Search</a:t>
            </a:r>
            <a:endParaRPr lang="en-US" sz="1000" dirty="0"/>
          </a:p>
        </p:txBody>
      </p:sp>
      <p:sp>
        <p:nvSpPr>
          <p:cNvPr id="29" name="Shape 23"/>
          <p:cNvSpPr/>
          <p:nvPr/>
        </p:nvSpPr>
        <p:spPr>
          <a:xfrm>
            <a:off x="3172968" y="2907792"/>
            <a:ext cx="2743200" cy="1828800"/>
          </a:xfrm>
          <a:prstGeom prst="rect">
            <a:avLst/>
          </a:prstGeom>
          <a:solidFill>
            <a:srgbClr val="FFFFFF"/>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30" name="Shape 24"/>
          <p:cNvSpPr/>
          <p:nvPr/>
        </p:nvSpPr>
        <p:spPr>
          <a:xfrm>
            <a:off x="3172968" y="2907792"/>
            <a:ext cx="594360" cy="1828800"/>
          </a:xfrm>
          <a:prstGeom prst="rect">
            <a:avLst/>
          </a:prstGeom>
          <a:solidFill>
            <a:srgbClr val="E65100"/>
          </a:solidFill>
          <a:ln w="12700">
            <a:solidFill>
              <a:srgbClr val="E65100"/>
            </a:solidFill>
            <a:prstDash val="solid"/>
          </a:ln>
        </p:spPr>
      </p:sp>
      <p:pic>
        <p:nvPicPr>
          <p:cNvPr id="31" name="Image 4" descr="preencoded.png">    </p:cNvPr>
          <p:cNvPicPr>
            <a:picLocks noChangeAspect="1"/>
          </p:cNvPicPr>
          <p:nvPr/>
        </p:nvPicPr>
        <p:blipFill>
          <a:blip r:embed="rId5"/>
          <a:stretch>
            <a:fillRect/>
          </a:stretch>
        </p:blipFill>
        <p:spPr>
          <a:xfrm>
            <a:off x="3246120" y="3502152"/>
            <a:ext cx="438912" cy="438912"/>
          </a:xfrm>
          <a:prstGeom prst="rect">
            <a:avLst/>
          </a:prstGeom>
        </p:spPr>
      </p:pic>
      <p:sp>
        <p:nvSpPr>
          <p:cNvPr id="32" name="Text 25"/>
          <p:cNvSpPr/>
          <p:nvPr/>
        </p:nvSpPr>
        <p:spPr>
          <a:xfrm>
            <a:off x="3172968" y="2907792"/>
            <a:ext cx="594360"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33" name="Text 26"/>
          <p:cNvSpPr/>
          <p:nvPr/>
        </p:nvSpPr>
        <p:spPr>
          <a:xfrm>
            <a:off x="3831336" y="3072384"/>
            <a:ext cx="2011680" cy="457200"/>
          </a:xfrm>
          <a:prstGeom prst="rect">
            <a:avLst/>
          </a:prstGeom>
          <a:noFill/>
          <a:ln/>
        </p:spPr>
        <p:txBody>
          <a:bodyPr wrap="square" rtlCol="0" anchor="ctr"/>
          <a:lstStyle/>
          <a:p>
            <a:pPr indent="0" marL="0">
              <a:buNone/>
            </a:pPr>
            <a:r>
              <a:rPr lang="en-US" sz="1300" b="1" dirty="0">
                <a:solidFill>
                  <a:srgbClr val="111111"/>
                </a:solidFill>
                <a:latin typeface="Arial" pitchFamily="34" charset="0"/>
                <a:ea typeface="Arial" pitchFamily="34" charset="-122"/>
                <a:cs typeface="Arial" pitchFamily="34" charset="-120"/>
              </a:rPr>
              <a:t>Compute Environment</a:t>
            </a:r>
            <a:endParaRPr lang="en-US" sz="1300" dirty="0"/>
          </a:p>
        </p:txBody>
      </p:sp>
      <p:sp>
        <p:nvSpPr>
          <p:cNvPr id="34" name="Text 27"/>
          <p:cNvSpPr/>
          <p:nvPr/>
        </p:nvSpPr>
        <p:spPr>
          <a:xfrm>
            <a:off x="3831336" y="3502152"/>
            <a:ext cx="2011680" cy="292608"/>
          </a:xfrm>
          <a:prstGeom prst="rect">
            <a:avLst/>
          </a:prstGeom>
          <a:noFill/>
          <a:ln/>
        </p:spPr>
        <p:txBody>
          <a:bodyPr wrap="square" rtlCol="0" anchor="ctr"/>
          <a:lstStyle/>
          <a:p>
            <a:pPr indent="0" marL="0">
              <a:buNone/>
            </a:pPr>
            <a:r>
              <a:rPr lang="en-US" sz="1000" i="1" dirty="0">
                <a:solidFill>
                  <a:srgbClr val="0071BC"/>
                </a:solidFill>
                <a:latin typeface="Arial" pitchFamily="34" charset="0"/>
                <a:ea typeface="Arial" pitchFamily="34" charset="-122"/>
                <a:cs typeface="Arial" pitchFamily="34" charset="-120"/>
              </a:rPr>
              <a:t>AKS (target)</a:t>
            </a:r>
            <a:endParaRPr lang="en-US" sz="1000" dirty="0"/>
          </a:p>
        </p:txBody>
      </p:sp>
      <p:sp>
        <p:nvSpPr>
          <p:cNvPr id="35" name="Shape 28"/>
          <p:cNvSpPr/>
          <p:nvPr/>
        </p:nvSpPr>
        <p:spPr>
          <a:xfrm>
            <a:off x="6117336" y="2907792"/>
            <a:ext cx="2743200" cy="1828800"/>
          </a:xfrm>
          <a:prstGeom prst="rect">
            <a:avLst/>
          </a:prstGeom>
          <a:solidFill>
            <a:srgbClr val="FFFFFF"/>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36" name="Shape 29"/>
          <p:cNvSpPr/>
          <p:nvPr/>
        </p:nvSpPr>
        <p:spPr>
          <a:xfrm>
            <a:off x="6117336" y="2907792"/>
            <a:ext cx="594360" cy="1828800"/>
          </a:xfrm>
          <a:prstGeom prst="rect">
            <a:avLst/>
          </a:prstGeom>
          <a:solidFill>
            <a:srgbClr val="37474F"/>
          </a:solidFill>
          <a:ln w="12700">
            <a:solidFill>
              <a:srgbClr val="37474F"/>
            </a:solidFill>
            <a:prstDash val="solid"/>
          </a:ln>
        </p:spPr>
      </p:sp>
      <p:pic>
        <p:nvPicPr>
          <p:cNvPr id="37" name="Image 5" descr="preencoded.png">    </p:cNvPr>
          <p:cNvPicPr>
            <a:picLocks noChangeAspect="1"/>
          </p:cNvPicPr>
          <p:nvPr/>
        </p:nvPicPr>
        <p:blipFill>
          <a:blip r:embed="rId6"/>
          <a:stretch>
            <a:fillRect/>
          </a:stretch>
        </p:blipFill>
        <p:spPr>
          <a:xfrm>
            <a:off x="6190488" y="3502152"/>
            <a:ext cx="438912" cy="438912"/>
          </a:xfrm>
          <a:prstGeom prst="rect">
            <a:avLst/>
          </a:prstGeom>
        </p:spPr>
      </p:pic>
      <p:sp>
        <p:nvSpPr>
          <p:cNvPr id="38" name="Text 30"/>
          <p:cNvSpPr/>
          <p:nvPr/>
        </p:nvSpPr>
        <p:spPr>
          <a:xfrm>
            <a:off x="6117336" y="2907792"/>
            <a:ext cx="594360"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6</a:t>
            </a:r>
            <a:endParaRPr lang="en-US" sz="1800" dirty="0"/>
          </a:p>
        </p:txBody>
      </p:sp>
      <p:sp>
        <p:nvSpPr>
          <p:cNvPr id="39" name="Text 31"/>
          <p:cNvSpPr/>
          <p:nvPr/>
        </p:nvSpPr>
        <p:spPr>
          <a:xfrm>
            <a:off x="6775704" y="3072384"/>
            <a:ext cx="2011680" cy="457200"/>
          </a:xfrm>
          <a:prstGeom prst="rect">
            <a:avLst/>
          </a:prstGeom>
          <a:noFill/>
          <a:ln/>
        </p:spPr>
        <p:txBody>
          <a:bodyPr wrap="square" rtlCol="0" anchor="ctr"/>
          <a:lstStyle/>
          <a:p>
            <a:pPr indent="0" marL="0">
              <a:buNone/>
            </a:pPr>
            <a:r>
              <a:rPr lang="en-US" sz="1300" b="1" dirty="0">
                <a:solidFill>
                  <a:srgbClr val="111111"/>
                </a:solidFill>
                <a:latin typeface="Arial" pitchFamily="34" charset="0"/>
                <a:ea typeface="Arial" pitchFamily="34" charset="-122"/>
                <a:cs typeface="Arial" pitchFamily="34" charset="-120"/>
              </a:rPr>
              <a:t>Audit Trail &amp; Monitoring</a:t>
            </a:r>
            <a:endParaRPr lang="en-US" sz="1300" dirty="0"/>
          </a:p>
        </p:txBody>
      </p:sp>
      <p:sp>
        <p:nvSpPr>
          <p:cNvPr id="40" name="Text 32"/>
          <p:cNvSpPr/>
          <p:nvPr/>
        </p:nvSpPr>
        <p:spPr>
          <a:xfrm>
            <a:off x="6775704" y="3502152"/>
            <a:ext cx="2011680" cy="292608"/>
          </a:xfrm>
          <a:prstGeom prst="rect">
            <a:avLst/>
          </a:prstGeom>
          <a:noFill/>
          <a:ln/>
        </p:spPr>
        <p:txBody>
          <a:bodyPr wrap="square" rtlCol="0" anchor="ctr"/>
          <a:lstStyle/>
          <a:p>
            <a:pPr indent="0" marL="0">
              <a:buNone/>
            </a:pPr>
            <a:r>
              <a:rPr lang="en-US" sz="1000" i="1" dirty="0">
                <a:solidFill>
                  <a:srgbClr val="0071BC"/>
                </a:solidFill>
                <a:latin typeface="Arial" pitchFamily="34" charset="0"/>
                <a:ea typeface="Arial" pitchFamily="34" charset="-122"/>
                <a:cs typeface="Arial" pitchFamily="34" charset="-120"/>
              </a:rPr>
              <a:t>Azure Monitor / SQL</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0" cy="5143500"/>
          </a:xfrm>
          <a:prstGeom prst="rect">
            <a:avLst/>
          </a:prstGeom>
          <a:solidFill>
            <a:srgbClr val="065A82"/>
          </a:solidFill>
          <a:ln w="12700">
            <a:solidFill>
              <a:srgbClr val="065A82"/>
            </a:solidFill>
            <a:prstDash val="solid"/>
          </a:ln>
        </p:spPr>
      </p:sp>
      <p:sp>
        <p:nvSpPr>
          <p:cNvPr id="3" name="Text 1"/>
          <p:cNvSpPr/>
          <p:nvPr/>
        </p:nvSpPr>
        <p:spPr>
          <a:xfrm>
            <a:off x="45720" y="228600"/>
            <a:ext cx="2468880" cy="320040"/>
          </a:xfrm>
          <a:prstGeom prst="rect">
            <a:avLst/>
          </a:prstGeom>
          <a:noFill/>
          <a:ln/>
        </p:spPr>
        <p:txBody>
          <a:bodyPr wrap="square" rtlCol="0" anchor="ctr"/>
          <a:lstStyle/>
          <a:p>
            <a:pPr algn="ctr" indent="0" marL="0">
              <a:buNone/>
            </a:pPr>
            <a:r>
              <a:rPr lang="en-US" sz="900" b="1" spc="400" kern="0" dirty="0">
                <a:solidFill>
                  <a:srgbClr val="FFFFFF"/>
                </a:solidFill>
                <a:latin typeface="Arial" pitchFamily="34" charset="0"/>
                <a:ea typeface="Arial" pitchFamily="34" charset="-122"/>
                <a:cs typeface="Arial" pitchFamily="34" charset="-120"/>
              </a:rPr>
              <a:t>COMPONENT</a:t>
            </a:r>
            <a:endParaRPr lang="en-US" sz="900" dirty="0"/>
          </a:p>
        </p:txBody>
      </p:sp>
      <p:sp>
        <p:nvSpPr>
          <p:cNvPr id="4" name="Text 2"/>
          <p:cNvSpPr/>
          <p:nvPr/>
        </p:nvSpPr>
        <p:spPr>
          <a:xfrm>
            <a:off x="45720" y="502920"/>
            <a:ext cx="2468880" cy="1005840"/>
          </a:xfrm>
          <a:prstGeom prst="rect">
            <a:avLst/>
          </a:prstGeom>
          <a:noFill/>
          <a:ln/>
        </p:spPr>
        <p:txBody>
          <a:bodyPr wrap="square" rtlCol="0" anchor="ctr"/>
          <a:lstStyle/>
          <a:p>
            <a:pPr algn="ctr" indent="0" marL="0">
              <a:buNone/>
            </a:pPr>
            <a:r>
              <a:rPr lang="en-US" sz="7200" b="1" dirty="0">
                <a:solidFill>
                  <a:srgbClr val="FFFFFF"/>
                </a:solidFill>
                <a:latin typeface="Arial" pitchFamily="34" charset="0"/>
                <a:ea typeface="Arial" pitchFamily="34" charset="-122"/>
                <a:cs typeface="Arial" pitchFamily="34" charset="-120"/>
              </a:rPr>
              <a:t>1</a:t>
            </a:r>
            <a:endParaRPr lang="en-US" sz="7200" dirty="0"/>
          </a:p>
        </p:txBody>
      </p:sp>
      <p:pic>
        <p:nvPicPr>
          <p:cNvPr id="5" name="Image 0" descr="preencoded.png">    </p:cNvPr>
          <p:cNvPicPr>
            <a:picLocks noChangeAspect="1"/>
          </p:cNvPicPr>
          <p:nvPr/>
        </p:nvPicPr>
        <p:blipFill>
          <a:blip r:embed="rId1"/>
          <a:stretch>
            <a:fillRect/>
          </a:stretch>
        </p:blipFill>
        <p:spPr>
          <a:xfrm>
            <a:off x="914400" y="1600200"/>
            <a:ext cx="731520" cy="731520"/>
          </a:xfrm>
          <a:prstGeom prst="rect">
            <a:avLst/>
          </a:prstGeom>
        </p:spPr>
      </p:pic>
      <p:sp>
        <p:nvSpPr>
          <p:cNvPr id="6" name="Text 3"/>
          <p:cNvSpPr/>
          <p:nvPr/>
        </p:nvSpPr>
        <p:spPr>
          <a:xfrm>
            <a:off x="91440" y="2468880"/>
            <a:ext cx="2377440" cy="822960"/>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File Storage</a:t>
            </a:r>
            <a:endParaRPr lang="en-US" sz="1500" dirty="0"/>
          </a:p>
        </p:txBody>
      </p:sp>
      <p:sp>
        <p:nvSpPr>
          <p:cNvPr id="7" name="Text 4"/>
          <p:cNvSpPr/>
          <p:nvPr/>
        </p:nvSpPr>
        <p:spPr>
          <a:xfrm>
            <a:off x="91440" y="3246120"/>
            <a:ext cx="2377440" cy="457200"/>
          </a:xfrm>
          <a:prstGeom prst="rect">
            <a:avLst/>
          </a:prstGeom>
          <a:noFill/>
          <a:ln/>
        </p:spPr>
        <p:txBody>
          <a:bodyPr wrap="square" rtlCol="0" anchor="ctr"/>
          <a:lstStyle/>
          <a:p>
            <a:pPr algn="ctr" indent="0" marL="0">
              <a:buNone/>
            </a:pPr>
            <a:r>
              <a:rPr lang="en-US" sz="1000" i="1" dirty="0">
                <a:solidFill>
                  <a:srgbClr val="DDDDDD"/>
                </a:solidFill>
                <a:latin typeface="Arial" pitchFamily="34" charset="0"/>
                <a:ea typeface="Arial" pitchFamily="34" charset="-122"/>
                <a:cs typeface="Arial" pitchFamily="34" charset="-120"/>
              </a:rPr>
              <a:t>Azure Blob Storage</a:t>
            </a:r>
            <a:endParaRPr lang="en-US" sz="1000" dirty="0"/>
          </a:p>
        </p:txBody>
      </p:sp>
      <p:sp>
        <p:nvSpPr>
          <p:cNvPr id="8" name="Text 5"/>
          <p:cNvSpPr/>
          <p:nvPr/>
        </p:nvSpPr>
        <p:spPr>
          <a:xfrm>
            <a:off x="2834640" y="137160"/>
            <a:ext cx="6035040" cy="320040"/>
          </a:xfrm>
          <a:prstGeom prst="rect">
            <a:avLst/>
          </a:prstGeom>
          <a:noFill/>
          <a:ln/>
        </p:spPr>
        <p:txBody>
          <a:bodyPr wrap="square" rtlCol="0" anchor="ctr"/>
          <a:lstStyle/>
          <a:p>
            <a:pPr indent="0" marL="0">
              <a:buNone/>
            </a:pPr>
            <a:r>
              <a:rPr lang="en-US" sz="1000" b="1" spc="200" kern="0" dirty="0">
                <a:solidFill>
                  <a:srgbClr val="065A82"/>
                </a:solidFill>
                <a:latin typeface="Arial" pitchFamily="34" charset="0"/>
                <a:ea typeface="Arial" pitchFamily="34" charset="-122"/>
                <a:cs typeface="Arial" pitchFamily="34" charset="-120"/>
              </a:rPr>
              <a:t>What it does</a:t>
            </a:r>
            <a:endParaRPr lang="en-US" sz="1000" dirty="0"/>
          </a:p>
        </p:txBody>
      </p:sp>
      <p:sp>
        <p:nvSpPr>
          <p:cNvPr id="9" name="Text 6"/>
          <p:cNvSpPr/>
          <p:nvPr/>
        </p:nvSpPr>
        <p:spPr>
          <a:xfrm>
            <a:off x="2834640" y="438912"/>
            <a:ext cx="6035040" cy="777240"/>
          </a:xfrm>
          <a:prstGeom prst="rect">
            <a:avLst/>
          </a:prstGeom>
          <a:noFill/>
          <a:ln/>
        </p:spPr>
        <p:txBody>
          <a:bodyPr wrap="square" rtlCol="0" anchor="ctr"/>
          <a:lstStyle/>
          <a:p>
            <a:pPr indent="0" marL="0">
              <a:buNone/>
            </a:pPr>
            <a:r>
              <a:rPr lang="en-US" sz="1200" dirty="0">
                <a:solidFill>
                  <a:srgbClr val="222222"/>
                </a:solidFill>
                <a:latin typeface="Arial" pitchFamily="34" charset="0"/>
                <a:ea typeface="Arial" pitchFamily="34" charset="-122"/>
                <a:cs typeface="Arial" pitchFamily="34" charset="-120"/>
              </a:rPr>
              <a:t>A centrally accessible, secure cloud filing cabinet for all raw survey files — questionnaires, codebooks, DDI metadata, legacy Stata scripts, and final harmonized datasets.</a:t>
            </a:r>
            <a:endParaRPr lang="en-US" sz="1200" dirty="0"/>
          </a:p>
        </p:txBody>
      </p:sp>
      <p:sp>
        <p:nvSpPr>
          <p:cNvPr id="10" name="Shape 7"/>
          <p:cNvSpPr/>
          <p:nvPr/>
        </p:nvSpPr>
        <p:spPr>
          <a:xfrm>
            <a:off x="2834640" y="1261872"/>
            <a:ext cx="6035040" cy="27432"/>
          </a:xfrm>
          <a:prstGeom prst="rect">
            <a:avLst/>
          </a:prstGeom>
          <a:solidFill>
            <a:srgbClr val="EEEEEE"/>
          </a:solidFill>
          <a:ln w="12700">
            <a:solidFill>
              <a:srgbClr val="EEEEEE"/>
            </a:solidFill>
            <a:prstDash val="solid"/>
          </a:ln>
        </p:spPr>
      </p:sp>
      <p:sp>
        <p:nvSpPr>
          <p:cNvPr id="11" name="Text 8"/>
          <p:cNvSpPr/>
          <p:nvPr/>
        </p:nvSpPr>
        <p:spPr>
          <a:xfrm>
            <a:off x="2834640" y="1371600"/>
            <a:ext cx="6035040" cy="320040"/>
          </a:xfrm>
          <a:prstGeom prst="rect">
            <a:avLst/>
          </a:prstGeom>
          <a:noFill/>
          <a:ln/>
        </p:spPr>
        <p:txBody>
          <a:bodyPr wrap="square" rtlCol="0" anchor="ctr"/>
          <a:lstStyle/>
          <a:p>
            <a:pPr indent="0" marL="0">
              <a:buNone/>
            </a:pPr>
            <a:r>
              <a:rPr lang="en-US" sz="1000" b="1" spc="200" kern="0" dirty="0">
                <a:solidFill>
                  <a:srgbClr val="065A82"/>
                </a:solidFill>
                <a:latin typeface="Arial" pitchFamily="34" charset="0"/>
                <a:ea typeface="Arial" pitchFamily="34" charset="-122"/>
                <a:cs typeface="Arial" pitchFamily="34" charset="-120"/>
              </a:rPr>
              <a:t>Why we need it</a:t>
            </a:r>
            <a:endParaRPr lang="en-US" sz="1000" dirty="0"/>
          </a:p>
        </p:txBody>
      </p:sp>
      <p:sp>
        <p:nvSpPr>
          <p:cNvPr id="12" name="Text 9"/>
          <p:cNvSpPr/>
          <p:nvPr/>
        </p:nvSpPr>
        <p:spPr>
          <a:xfrm>
            <a:off x="2834640" y="1673352"/>
            <a:ext cx="6035040" cy="777240"/>
          </a:xfrm>
          <a:prstGeom prst="rect">
            <a:avLst/>
          </a:prstGeom>
          <a:noFill/>
          <a:ln/>
        </p:spPr>
        <p:txBody>
          <a:bodyPr wrap="square" rtlCol="0" anchor="ctr"/>
          <a:lstStyle/>
          <a:p>
            <a:pPr indent="0" marL="0">
              <a:buNone/>
            </a:pPr>
            <a:r>
              <a:rPr lang="en-US" sz="1200" dirty="0">
                <a:solidFill>
                  <a:srgbClr val="222222"/>
                </a:solidFill>
                <a:latin typeface="Arial" pitchFamily="34" charset="0"/>
                <a:ea typeface="Arial" pitchFamily="34" charset="-122"/>
                <a:cs typeface="Arial" pitchFamily="34" charset="-120"/>
              </a:rPr>
              <a:t>Every pipeline component needs a shared location to read from and write to. Files cannot live on a personal laptop. We also need the World Bank Microdata Library API to retrieve machine-readable DDI metadata files, which are far more reliable as AI inputs than unstructured PDFs.</a:t>
            </a:r>
            <a:endParaRPr lang="en-US" sz="1200" dirty="0"/>
          </a:p>
        </p:txBody>
      </p:sp>
      <p:sp>
        <p:nvSpPr>
          <p:cNvPr id="13" name="Shape 10"/>
          <p:cNvSpPr/>
          <p:nvPr/>
        </p:nvSpPr>
        <p:spPr>
          <a:xfrm>
            <a:off x="2834640" y="2496312"/>
            <a:ext cx="6035040" cy="27432"/>
          </a:xfrm>
          <a:prstGeom prst="rect">
            <a:avLst/>
          </a:prstGeom>
          <a:solidFill>
            <a:srgbClr val="EEEEEE"/>
          </a:solidFill>
          <a:ln w="12700">
            <a:solidFill>
              <a:srgbClr val="EEEEEE"/>
            </a:solidFill>
            <a:prstDash val="solid"/>
          </a:ln>
        </p:spPr>
      </p:sp>
      <p:sp>
        <p:nvSpPr>
          <p:cNvPr id="14" name="Text 11"/>
          <p:cNvSpPr/>
          <p:nvPr/>
        </p:nvSpPr>
        <p:spPr>
          <a:xfrm>
            <a:off x="2834640" y="2606040"/>
            <a:ext cx="6035040" cy="320040"/>
          </a:xfrm>
          <a:prstGeom prst="rect">
            <a:avLst/>
          </a:prstGeom>
          <a:noFill/>
          <a:ln/>
        </p:spPr>
        <p:txBody>
          <a:bodyPr wrap="square" rtlCol="0" anchor="ctr"/>
          <a:lstStyle/>
          <a:p>
            <a:pPr indent="0" marL="0">
              <a:buNone/>
            </a:pPr>
            <a:r>
              <a:rPr lang="en-US" sz="1000" b="1" spc="200" kern="0" dirty="0">
                <a:solidFill>
                  <a:srgbClr val="065A82"/>
                </a:solidFill>
                <a:latin typeface="Arial" pitchFamily="34" charset="0"/>
                <a:ea typeface="Arial" pitchFamily="34" charset="-122"/>
                <a:cs typeface="Arial" pitchFamily="34" charset="-120"/>
              </a:rPr>
              <a:t>Azure service</a:t>
            </a:r>
            <a:endParaRPr lang="en-US" sz="1000" dirty="0"/>
          </a:p>
        </p:txBody>
      </p:sp>
      <p:sp>
        <p:nvSpPr>
          <p:cNvPr id="15" name="Text 12"/>
          <p:cNvSpPr/>
          <p:nvPr/>
        </p:nvSpPr>
        <p:spPr>
          <a:xfrm>
            <a:off x="2834640" y="2907792"/>
            <a:ext cx="6035040" cy="457200"/>
          </a:xfrm>
          <a:prstGeom prst="rect">
            <a:avLst/>
          </a:prstGeom>
          <a:noFill/>
          <a:ln/>
        </p:spPr>
        <p:txBody>
          <a:bodyPr wrap="square" rtlCol="0" anchor="ctr"/>
          <a:lstStyle/>
          <a:p>
            <a:pPr indent="0" marL="0">
              <a:buNone/>
            </a:pPr>
            <a:r>
              <a:rPr lang="en-US" sz="1200" dirty="0">
                <a:solidFill>
                  <a:srgbClr val="222222"/>
                </a:solidFill>
                <a:latin typeface="Arial" pitchFamily="34" charset="0"/>
                <a:ea typeface="Arial" pitchFamily="34" charset="-122"/>
                <a:cs typeface="Arial" pitchFamily="34" charset="-120"/>
              </a:rPr>
              <a:t>Azure Blob Storage — standard, scalable, policy-compliant object storage. Not exotic: ITS almost certainly has an approved configuration already.</a:t>
            </a:r>
            <a:endParaRPr lang="en-US" sz="1200" dirty="0"/>
          </a:p>
        </p:txBody>
      </p:sp>
      <p:sp>
        <p:nvSpPr>
          <p:cNvPr id="16" name="Shape 13"/>
          <p:cNvSpPr/>
          <p:nvPr/>
        </p:nvSpPr>
        <p:spPr>
          <a:xfrm>
            <a:off x="2834640" y="3474720"/>
            <a:ext cx="6035040" cy="1463040"/>
          </a:xfrm>
          <a:prstGeom prst="rect">
            <a:avLst/>
          </a:prstGeom>
          <a:solidFill>
            <a:srgbClr val="D5E8F0"/>
          </a:solidFill>
          <a:ln w="12700">
            <a:solidFill>
              <a:srgbClr val="003366"/>
            </a:solidFill>
            <a:prstDash val="solid"/>
          </a:ln>
        </p:spPr>
      </p:sp>
      <p:sp>
        <p:nvSpPr>
          <p:cNvPr id="17" name="Shape 14"/>
          <p:cNvSpPr/>
          <p:nvPr/>
        </p:nvSpPr>
        <p:spPr>
          <a:xfrm>
            <a:off x="2834640" y="3474720"/>
            <a:ext cx="73152" cy="1463040"/>
          </a:xfrm>
          <a:prstGeom prst="rect">
            <a:avLst/>
          </a:prstGeom>
          <a:solidFill>
            <a:srgbClr val="003366"/>
          </a:solidFill>
          <a:ln w="12700">
            <a:solidFill>
              <a:srgbClr val="003366"/>
            </a:solidFill>
            <a:prstDash val="solid"/>
          </a:ln>
        </p:spPr>
      </p:sp>
      <p:sp>
        <p:nvSpPr>
          <p:cNvPr id="18" name="Text 15"/>
          <p:cNvSpPr/>
          <p:nvPr/>
        </p:nvSpPr>
        <p:spPr>
          <a:xfrm>
            <a:off x="2971800" y="3538728"/>
            <a:ext cx="5806440" cy="274320"/>
          </a:xfrm>
          <a:prstGeom prst="rect">
            <a:avLst/>
          </a:prstGeom>
          <a:noFill/>
          <a:ln/>
        </p:spPr>
        <p:txBody>
          <a:bodyPr wrap="square" rtlCol="0" anchor="ctr"/>
          <a:lstStyle/>
          <a:p>
            <a:pPr indent="0" marL="0">
              <a:buNone/>
            </a:pPr>
            <a:r>
              <a:rPr lang="en-US" sz="900" b="1" spc="200" kern="0" dirty="0">
                <a:solidFill>
                  <a:srgbClr val="003366"/>
                </a:solidFill>
                <a:latin typeface="Arial" pitchFamily="34" charset="0"/>
                <a:ea typeface="Arial" pitchFamily="34" charset="-122"/>
                <a:cs typeface="Arial" pitchFamily="34" charset="-120"/>
              </a:rPr>
              <a:t>ITS QUESTION</a:t>
            </a:r>
            <a:endParaRPr lang="en-US" sz="900" dirty="0"/>
          </a:p>
        </p:txBody>
      </p:sp>
      <p:sp>
        <p:nvSpPr>
          <p:cNvPr id="19" name="Text 16"/>
          <p:cNvSpPr/>
          <p:nvPr/>
        </p:nvSpPr>
        <p:spPr>
          <a:xfrm>
            <a:off x="2971800" y="3813048"/>
            <a:ext cx="5806440" cy="1051560"/>
          </a:xfrm>
          <a:prstGeom prst="rect">
            <a:avLst/>
          </a:prstGeom>
          <a:noFill/>
          <a:ln/>
        </p:spPr>
        <p:txBody>
          <a:bodyPr wrap="square" rtlCol="0" anchor="ctr"/>
          <a:lstStyle/>
          <a:p>
            <a:pPr indent="0" marL="0">
              <a:buNone/>
            </a:pPr>
            <a:r>
              <a:rPr lang="en-US" sz="1100" dirty="0">
                <a:solidFill>
                  <a:srgbClr val="333333"/>
                </a:solidFill>
                <a:latin typeface="Arial" pitchFamily="34" charset="0"/>
                <a:ea typeface="Arial" pitchFamily="34" charset="-122"/>
                <a:cs typeface="Arial" pitchFamily="34" charset="-120"/>
              </a:rPr>
              <a:t>Is there an approved storage environment for restricted survey microdata? What data classification applies? Can our compute environment call the Microdata Library API (microdata.worldbank.org) to retrieve DDI files?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0" cy="5143500"/>
          </a:xfrm>
          <a:prstGeom prst="rect">
            <a:avLst/>
          </a:prstGeom>
          <a:solidFill>
            <a:srgbClr val="1A6B3A"/>
          </a:solidFill>
          <a:ln w="12700">
            <a:solidFill>
              <a:srgbClr val="1A6B3A"/>
            </a:solidFill>
            <a:prstDash val="solid"/>
          </a:ln>
        </p:spPr>
      </p:sp>
      <p:sp>
        <p:nvSpPr>
          <p:cNvPr id="3" name="Text 1"/>
          <p:cNvSpPr/>
          <p:nvPr/>
        </p:nvSpPr>
        <p:spPr>
          <a:xfrm>
            <a:off x="45720" y="228600"/>
            <a:ext cx="2468880" cy="320040"/>
          </a:xfrm>
          <a:prstGeom prst="rect">
            <a:avLst/>
          </a:prstGeom>
          <a:noFill/>
          <a:ln/>
        </p:spPr>
        <p:txBody>
          <a:bodyPr wrap="square" rtlCol="0" anchor="ctr"/>
          <a:lstStyle/>
          <a:p>
            <a:pPr algn="ctr" indent="0" marL="0">
              <a:buNone/>
            </a:pPr>
            <a:r>
              <a:rPr lang="en-US" sz="900" b="1" spc="400" kern="0" dirty="0">
                <a:solidFill>
                  <a:srgbClr val="FFFFFF"/>
                </a:solidFill>
                <a:latin typeface="Arial" pitchFamily="34" charset="0"/>
                <a:ea typeface="Arial" pitchFamily="34" charset="-122"/>
                <a:cs typeface="Arial" pitchFamily="34" charset="-120"/>
              </a:rPr>
              <a:t>COMPONENT</a:t>
            </a:r>
            <a:endParaRPr lang="en-US" sz="900" dirty="0"/>
          </a:p>
        </p:txBody>
      </p:sp>
      <p:sp>
        <p:nvSpPr>
          <p:cNvPr id="4" name="Text 2"/>
          <p:cNvSpPr/>
          <p:nvPr/>
        </p:nvSpPr>
        <p:spPr>
          <a:xfrm>
            <a:off x="45720" y="502920"/>
            <a:ext cx="2468880" cy="1005840"/>
          </a:xfrm>
          <a:prstGeom prst="rect">
            <a:avLst/>
          </a:prstGeom>
          <a:noFill/>
          <a:ln/>
        </p:spPr>
        <p:txBody>
          <a:bodyPr wrap="square" rtlCol="0" anchor="ctr"/>
          <a:lstStyle/>
          <a:p>
            <a:pPr algn="ctr" indent="0" marL="0">
              <a:buNone/>
            </a:pPr>
            <a:r>
              <a:rPr lang="en-US" sz="7200" b="1" dirty="0">
                <a:solidFill>
                  <a:srgbClr val="FFFFFF"/>
                </a:solidFill>
                <a:latin typeface="Arial" pitchFamily="34" charset="0"/>
                <a:ea typeface="Arial" pitchFamily="34" charset="-122"/>
                <a:cs typeface="Arial" pitchFamily="34" charset="-120"/>
              </a:rPr>
              <a:t>2</a:t>
            </a:r>
            <a:endParaRPr lang="en-US" sz="7200" dirty="0"/>
          </a:p>
        </p:txBody>
      </p:sp>
      <p:pic>
        <p:nvPicPr>
          <p:cNvPr id="5" name="Image 0" descr="preencoded.png">    </p:cNvPr>
          <p:cNvPicPr>
            <a:picLocks noChangeAspect="1"/>
          </p:cNvPicPr>
          <p:nvPr/>
        </p:nvPicPr>
        <p:blipFill>
          <a:blip r:embed="rId1"/>
          <a:stretch>
            <a:fillRect/>
          </a:stretch>
        </p:blipFill>
        <p:spPr>
          <a:xfrm>
            <a:off x="914400" y="1600200"/>
            <a:ext cx="731520" cy="731520"/>
          </a:xfrm>
          <a:prstGeom prst="rect">
            <a:avLst/>
          </a:prstGeom>
        </p:spPr>
      </p:pic>
      <p:sp>
        <p:nvSpPr>
          <p:cNvPr id="6" name="Text 3"/>
          <p:cNvSpPr/>
          <p:nvPr/>
        </p:nvSpPr>
        <p:spPr>
          <a:xfrm>
            <a:off x="91440" y="2468880"/>
            <a:ext cx="2377440" cy="822960"/>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Rules Database</a:t>
            </a:r>
            <a:endParaRPr lang="en-US" sz="1500" dirty="0"/>
          </a:p>
        </p:txBody>
      </p:sp>
      <p:sp>
        <p:nvSpPr>
          <p:cNvPr id="7" name="Text 4"/>
          <p:cNvSpPr/>
          <p:nvPr/>
        </p:nvSpPr>
        <p:spPr>
          <a:xfrm>
            <a:off x="91440" y="3246120"/>
            <a:ext cx="2377440" cy="457200"/>
          </a:xfrm>
          <a:prstGeom prst="rect">
            <a:avLst/>
          </a:prstGeom>
          <a:noFill/>
          <a:ln/>
        </p:spPr>
        <p:txBody>
          <a:bodyPr wrap="square" rtlCol="0" anchor="ctr"/>
          <a:lstStyle/>
          <a:p>
            <a:pPr algn="ctr" indent="0" marL="0">
              <a:buNone/>
            </a:pPr>
            <a:r>
              <a:rPr lang="en-US" sz="1000" i="1" dirty="0">
                <a:solidFill>
                  <a:srgbClr val="DDDDDD"/>
                </a:solidFill>
                <a:latin typeface="Arial" pitchFamily="34" charset="0"/>
                <a:ea typeface="Arial" pitchFamily="34" charset="-122"/>
                <a:cs typeface="Arial" pitchFamily="34" charset="-120"/>
              </a:rPr>
              <a:t>Azure SQL / PostgreSQL</a:t>
            </a:r>
            <a:endParaRPr lang="en-US" sz="1000" dirty="0"/>
          </a:p>
        </p:txBody>
      </p:sp>
      <p:sp>
        <p:nvSpPr>
          <p:cNvPr id="8" name="Text 5"/>
          <p:cNvSpPr/>
          <p:nvPr/>
        </p:nvSpPr>
        <p:spPr>
          <a:xfrm>
            <a:off x="2834640" y="137160"/>
            <a:ext cx="6035040" cy="320040"/>
          </a:xfrm>
          <a:prstGeom prst="rect">
            <a:avLst/>
          </a:prstGeom>
          <a:noFill/>
          <a:ln/>
        </p:spPr>
        <p:txBody>
          <a:bodyPr wrap="square" rtlCol="0" anchor="ctr"/>
          <a:lstStyle/>
          <a:p>
            <a:pPr indent="0" marL="0">
              <a:buNone/>
            </a:pPr>
            <a:r>
              <a:rPr lang="en-US" sz="1000" b="1" spc="200" kern="0" dirty="0">
                <a:solidFill>
                  <a:srgbClr val="1A6B3A"/>
                </a:solidFill>
                <a:latin typeface="Arial" pitchFamily="34" charset="0"/>
                <a:ea typeface="Arial" pitchFamily="34" charset="-122"/>
                <a:cs typeface="Arial" pitchFamily="34" charset="-120"/>
              </a:rPr>
              <a:t>What it does</a:t>
            </a:r>
            <a:endParaRPr lang="en-US" sz="1000" dirty="0"/>
          </a:p>
        </p:txBody>
      </p:sp>
      <p:sp>
        <p:nvSpPr>
          <p:cNvPr id="9" name="Text 6"/>
          <p:cNvSpPr/>
          <p:nvPr/>
        </p:nvSpPr>
        <p:spPr>
          <a:xfrm>
            <a:off x="2834640" y="438912"/>
            <a:ext cx="6035040" cy="777240"/>
          </a:xfrm>
          <a:prstGeom prst="rect">
            <a:avLst/>
          </a:prstGeom>
          <a:noFill/>
          <a:ln/>
        </p:spPr>
        <p:txBody>
          <a:bodyPr wrap="square" rtlCol="0" anchor="ctr"/>
          <a:lstStyle/>
          <a:p>
            <a:pPr indent="0" marL="0">
              <a:buNone/>
            </a:pPr>
            <a:r>
              <a:rPr lang="en-US" sz="1200" dirty="0">
                <a:solidFill>
                  <a:srgbClr val="222222"/>
                </a:solidFill>
                <a:latin typeface="Arial" pitchFamily="34" charset="0"/>
                <a:ea typeface="Arial" pitchFamily="34" charset="-122"/>
                <a:cs typeface="Arial" pitchFamily="34" charset="-120"/>
              </a:rPr>
              <a:t>A structured, queryable database holding the canonical definition of every GMD variable: name, valid value range, data type, mandatory/optional status, derived relationships, and validation rules. The official rulebook — always authoritative.</a:t>
            </a:r>
            <a:endParaRPr lang="en-US" sz="1200" dirty="0"/>
          </a:p>
        </p:txBody>
      </p:sp>
      <p:sp>
        <p:nvSpPr>
          <p:cNvPr id="10" name="Shape 7"/>
          <p:cNvSpPr/>
          <p:nvPr/>
        </p:nvSpPr>
        <p:spPr>
          <a:xfrm>
            <a:off x="2834640" y="1261872"/>
            <a:ext cx="6035040" cy="27432"/>
          </a:xfrm>
          <a:prstGeom prst="rect">
            <a:avLst/>
          </a:prstGeom>
          <a:solidFill>
            <a:srgbClr val="EEEEEE"/>
          </a:solidFill>
          <a:ln w="12700">
            <a:solidFill>
              <a:srgbClr val="EEEEEE"/>
            </a:solidFill>
            <a:prstDash val="solid"/>
          </a:ln>
        </p:spPr>
      </p:sp>
      <p:sp>
        <p:nvSpPr>
          <p:cNvPr id="11" name="Text 8"/>
          <p:cNvSpPr/>
          <p:nvPr/>
        </p:nvSpPr>
        <p:spPr>
          <a:xfrm>
            <a:off x="2834640" y="1371600"/>
            <a:ext cx="6035040" cy="320040"/>
          </a:xfrm>
          <a:prstGeom prst="rect">
            <a:avLst/>
          </a:prstGeom>
          <a:noFill/>
          <a:ln/>
        </p:spPr>
        <p:txBody>
          <a:bodyPr wrap="square" rtlCol="0" anchor="ctr"/>
          <a:lstStyle/>
          <a:p>
            <a:pPr indent="0" marL="0">
              <a:buNone/>
            </a:pPr>
            <a:r>
              <a:rPr lang="en-US" sz="1000" b="1" spc="200" kern="0" dirty="0">
                <a:solidFill>
                  <a:srgbClr val="1A6B3A"/>
                </a:solidFill>
                <a:latin typeface="Arial" pitchFamily="34" charset="0"/>
                <a:ea typeface="Arial" pitchFamily="34" charset="-122"/>
                <a:cs typeface="Arial" pitchFamily="34" charset="-120"/>
              </a:rPr>
              <a:t>Why we need it</a:t>
            </a:r>
            <a:endParaRPr lang="en-US" sz="1000" dirty="0"/>
          </a:p>
        </p:txBody>
      </p:sp>
      <p:sp>
        <p:nvSpPr>
          <p:cNvPr id="12" name="Text 9"/>
          <p:cNvSpPr/>
          <p:nvPr/>
        </p:nvSpPr>
        <p:spPr>
          <a:xfrm>
            <a:off x="2834640" y="1673352"/>
            <a:ext cx="6035040" cy="777240"/>
          </a:xfrm>
          <a:prstGeom prst="rect">
            <a:avLst/>
          </a:prstGeom>
          <a:noFill/>
          <a:ln/>
        </p:spPr>
        <p:txBody>
          <a:bodyPr wrap="square" rtlCol="0" anchor="ctr"/>
          <a:lstStyle/>
          <a:p>
            <a:pPr indent="0" marL="0">
              <a:buNone/>
            </a:pPr>
            <a:r>
              <a:rPr lang="en-US" sz="1200" dirty="0">
                <a:solidFill>
                  <a:srgbClr val="222222"/>
                </a:solidFill>
                <a:latin typeface="Arial" pitchFamily="34" charset="0"/>
                <a:ea typeface="Arial" pitchFamily="34" charset="-122"/>
                <a:cs typeface="Arial" pitchFamily="34" charset="-120"/>
              </a:rPr>
              <a:t>The AI must check official definitions before drafting any specification. The execution engine must validate outputs against them. When this database conflicts with historical precedents, this database always wins. It must be a proper database (not a spreadsheet) to support simultaneous queries and enforce consistency.</a:t>
            </a:r>
            <a:endParaRPr lang="en-US" sz="1200" dirty="0"/>
          </a:p>
        </p:txBody>
      </p:sp>
      <p:sp>
        <p:nvSpPr>
          <p:cNvPr id="13" name="Shape 10"/>
          <p:cNvSpPr/>
          <p:nvPr/>
        </p:nvSpPr>
        <p:spPr>
          <a:xfrm>
            <a:off x="2834640" y="2496312"/>
            <a:ext cx="6035040" cy="27432"/>
          </a:xfrm>
          <a:prstGeom prst="rect">
            <a:avLst/>
          </a:prstGeom>
          <a:solidFill>
            <a:srgbClr val="EEEEEE"/>
          </a:solidFill>
          <a:ln w="12700">
            <a:solidFill>
              <a:srgbClr val="EEEEEE"/>
            </a:solidFill>
            <a:prstDash val="solid"/>
          </a:ln>
        </p:spPr>
      </p:sp>
      <p:sp>
        <p:nvSpPr>
          <p:cNvPr id="14" name="Text 11"/>
          <p:cNvSpPr/>
          <p:nvPr/>
        </p:nvSpPr>
        <p:spPr>
          <a:xfrm>
            <a:off x="2834640" y="2606040"/>
            <a:ext cx="6035040" cy="320040"/>
          </a:xfrm>
          <a:prstGeom prst="rect">
            <a:avLst/>
          </a:prstGeom>
          <a:noFill/>
          <a:ln/>
        </p:spPr>
        <p:txBody>
          <a:bodyPr wrap="square" rtlCol="0" anchor="ctr"/>
          <a:lstStyle/>
          <a:p>
            <a:pPr indent="0" marL="0">
              <a:buNone/>
            </a:pPr>
            <a:r>
              <a:rPr lang="en-US" sz="1000" b="1" spc="200" kern="0" dirty="0">
                <a:solidFill>
                  <a:srgbClr val="1A6B3A"/>
                </a:solidFill>
                <a:latin typeface="Arial" pitchFamily="34" charset="0"/>
                <a:ea typeface="Arial" pitchFamily="34" charset="-122"/>
                <a:cs typeface="Arial" pitchFamily="34" charset="-120"/>
              </a:rPr>
              <a:t>Azure service</a:t>
            </a:r>
            <a:endParaRPr lang="en-US" sz="1000" dirty="0"/>
          </a:p>
        </p:txBody>
      </p:sp>
      <p:sp>
        <p:nvSpPr>
          <p:cNvPr id="15" name="Text 12"/>
          <p:cNvSpPr/>
          <p:nvPr/>
        </p:nvSpPr>
        <p:spPr>
          <a:xfrm>
            <a:off x="2834640" y="2907792"/>
            <a:ext cx="6035040" cy="457200"/>
          </a:xfrm>
          <a:prstGeom prst="rect">
            <a:avLst/>
          </a:prstGeom>
          <a:noFill/>
          <a:ln/>
        </p:spPr>
        <p:txBody>
          <a:bodyPr wrap="square" rtlCol="0" anchor="ctr"/>
          <a:lstStyle/>
          <a:p>
            <a:pPr indent="0" marL="0">
              <a:buNone/>
            </a:pPr>
            <a:r>
              <a:rPr lang="en-US" sz="1200" dirty="0">
                <a:solidFill>
                  <a:srgbClr val="222222"/>
                </a:solidFill>
                <a:latin typeface="Arial" pitchFamily="34" charset="0"/>
                <a:ea typeface="Arial" pitchFamily="34" charset="-122"/>
                <a:cs typeface="Arial" pitchFamily="34" charset="-120"/>
              </a:rPr>
              <a:t>Azure SQL Database or PostgreSQL on Azure. Both are standard relational database services. We defer to whatever ITS already has approved and provisioned in our environment.</a:t>
            </a:r>
            <a:endParaRPr lang="en-US" sz="1200" dirty="0"/>
          </a:p>
        </p:txBody>
      </p:sp>
      <p:sp>
        <p:nvSpPr>
          <p:cNvPr id="16" name="Shape 13"/>
          <p:cNvSpPr/>
          <p:nvPr/>
        </p:nvSpPr>
        <p:spPr>
          <a:xfrm>
            <a:off x="2834640" y="3474720"/>
            <a:ext cx="6035040" cy="1463040"/>
          </a:xfrm>
          <a:prstGeom prst="rect">
            <a:avLst/>
          </a:prstGeom>
          <a:solidFill>
            <a:srgbClr val="D5E8F0"/>
          </a:solidFill>
          <a:ln w="12700">
            <a:solidFill>
              <a:srgbClr val="003366"/>
            </a:solidFill>
            <a:prstDash val="solid"/>
          </a:ln>
        </p:spPr>
      </p:sp>
      <p:sp>
        <p:nvSpPr>
          <p:cNvPr id="17" name="Shape 14"/>
          <p:cNvSpPr/>
          <p:nvPr/>
        </p:nvSpPr>
        <p:spPr>
          <a:xfrm>
            <a:off x="2834640" y="3474720"/>
            <a:ext cx="73152" cy="1463040"/>
          </a:xfrm>
          <a:prstGeom prst="rect">
            <a:avLst/>
          </a:prstGeom>
          <a:solidFill>
            <a:srgbClr val="003366"/>
          </a:solidFill>
          <a:ln w="12700">
            <a:solidFill>
              <a:srgbClr val="003366"/>
            </a:solidFill>
            <a:prstDash val="solid"/>
          </a:ln>
        </p:spPr>
      </p:sp>
      <p:sp>
        <p:nvSpPr>
          <p:cNvPr id="18" name="Text 15"/>
          <p:cNvSpPr/>
          <p:nvPr/>
        </p:nvSpPr>
        <p:spPr>
          <a:xfrm>
            <a:off x="2971800" y="3538728"/>
            <a:ext cx="5806440" cy="274320"/>
          </a:xfrm>
          <a:prstGeom prst="rect">
            <a:avLst/>
          </a:prstGeom>
          <a:noFill/>
          <a:ln/>
        </p:spPr>
        <p:txBody>
          <a:bodyPr wrap="square" rtlCol="0" anchor="ctr"/>
          <a:lstStyle/>
          <a:p>
            <a:pPr indent="0" marL="0">
              <a:buNone/>
            </a:pPr>
            <a:r>
              <a:rPr lang="en-US" sz="900" b="1" spc="200" kern="0" dirty="0">
                <a:solidFill>
                  <a:srgbClr val="003366"/>
                </a:solidFill>
                <a:latin typeface="Arial" pitchFamily="34" charset="0"/>
                <a:ea typeface="Arial" pitchFamily="34" charset="-122"/>
                <a:cs typeface="Arial" pitchFamily="34" charset="-120"/>
              </a:rPr>
              <a:t>ITS QUESTION</a:t>
            </a:r>
            <a:endParaRPr lang="en-US" sz="900" dirty="0"/>
          </a:p>
        </p:txBody>
      </p:sp>
      <p:sp>
        <p:nvSpPr>
          <p:cNvPr id="19" name="Text 16"/>
          <p:cNvSpPr/>
          <p:nvPr/>
        </p:nvSpPr>
        <p:spPr>
          <a:xfrm>
            <a:off x="2971800" y="3813048"/>
            <a:ext cx="5806440" cy="1051560"/>
          </a:xfrm>
          <a:prstGeom prst="rect">
            <a:avLst/>
          </a:prstGeom>
          <a:noFill/>
          <a:ln/>
        </p:spPr>
        <p:txBody>
          <a:bodyPr wrap="square" rtlCol="0" anchor="ctr"/>
          <a:lstStyle/>
          <a:p>
            <a:pPr indent="0" marL="0">
              <a:buNone/>
            </a:pPr>
            <a:r>
              <a:rPr lang="en-US" sz="1100" dirty="0">
                <a:solidFill>
                  <a:srgbClr val="333333"/>
                </a:solidFill>
                <a:latin typeface="Arial" pitchFamily="34" charset="0"/>
                <a:ea typeface="Arial" pitchFamily="34" charset="-122"/>
                <a:cs typeface="Arial" pitchFamily="34" charset="-120"/>
              </a:rPr>
              <a:t>What is the standard approved relational database service in our Azure environment? Is there an existing instance we could use, or would we need a new one provisioned?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0" cy="5143500"/>
          </a:xfrm>
          <a:prstGeom prst="rect">
            <a:avLst/>
          </a:prstGeom>
          <a:solidFill>
            <a:srgbClr val="C62828"/>
          </a:solidFill>
          <a:ln w="12700">
            <a:solidFill>
              <a:srgbClr val="C62828"/>
            </a:solidFill>
            <a:prstDash val="solid"/>
          </a:ln>
        </p:spPr>
      </p:sp>
      <p:sp>
        <p:nvSpPr>
          <p:cNvPr id="3" name="Text 1"/>
          <p:cNvSpPr/>
          <p:nvPr/>
        </p:nvSpPr>
        <p:spPr>
          <a:xfrm>
            <a:off x="45720" y="228600"/>
            <a:ext cx="2468880" cy="320040"/>
          </a:xfrm>
          <a:prstGeom prst="rect">
            <a:avLst/>
          </a:prstGeom>
          <a:noFill/>
          <a:ln/>
        </p:spPr>
        <p:txBody>
          <a:bodyPr wrap="square" rtlCol="0" anchor="ctr"/>
          <a:lstStyle/>
          <a:p>
            <a:pPr algn="ctr" indent="0" marL="0">
              <a:buNone/>
            </a:pPr>
            <a:r>
              <a:rPr lang="en-US" sz="900" b="1" spc="400" kern="0" dirty="0">
                <a:solidFill>
                  <a:srgbClr val="FFFFFF"/>
                </a:solidFill>
                <a:latin typeface="Arial" pitchFamily="34" charset="0"/>
                <a:ea typeface="Arial" pitchFamily="34" charset="-122"/>
                <a:cs typeface="Arial" pitchFamily="34" charset="-120"/>
              </a:rPr>
              <a:t>COMPONENT</a:t>
            </a:r>
            <a:endParaRPr lang="en-US" sz="900" dirty="0"/>
          </a:p>
        </p:txBody>
      </p:sp>
      <p:sp>
        <p:nvSpPr>
          <p:cNvPr id="4" name="Text 2"/>
          <p:cNvSpPr/>
          <p:nvPr/>
        </p:nvSpPr>
        <p:spPr>
          <a:xfrm>
            <a:off x="45720" y="502920"/>
            <a:ext cx="2468880" cy="1005840"/>
          </a:xfrm>
          <a:prstGeom prst="rect">
            <a:avLst/>
          </a:prstGeom>
          <a:noFill/>
          <a:ln/>
        </p:spPr>
        <p:txBody>
          <a:bodyPr wrap="square" rtlCol="0" anchor="ctr"/>
          <a:lstStyle/>
          <a:p>
            <a:pPr algn="ctr" indent="0" marL="0">
              <a:buNone/>
            </a:pPr>
            <a:r>
              <a:rPr lang="en-US" sz="7200" b="1" dirty="0">
                <a:solidFill>
                  <a:srgbClr val="FFFFFF"/>
                </a:solidFill>
                <a:latin typeface="Arial" pitchFamily="34" charset="0"/>
                <a:ea typeface="Arial" pitchFamily="34" charset="-122"/>
                <a:cs typeface="Arial" pitchFamily="34" charset="-120"/>
              </a:rPr>
              <a:t>3</a:t>
            </a:r>
            <a:endParaRPr lang="en-US" sz="7200" dirty="0"/>
          </a:p>
        </p:txBody>
      </p:sp>
      <p:pic>
        <p:nvPicPr>
          <p:cNvPr id="5" name="Image 0" descr="preencoded.png">    </p:cNvPr>
          <p:cNvPicPr>
            <a:picLocks noChangeAspect="1"/>
          </p:cNvPicPr>
          <p:nvPr/>
        </p:nvPicPr>
        <p:blipFill>
          <a:blip r:embed="rId1"/>
          <a:stretch>
            <a:fillRect/>
          </a:stretch>
        </p:blipFill>
        <p:spPr>
          <a:xfrm>
            <a:off x="914400" y="1600200"/>
            <a:ext cx="731520" cy="731520"/>
          </a:xfrm>
          <a:prstGeom prst="rect">
            <a:avLst/>
          </a:prstGeom>
        </p:spPr>
      </p:pic>
      <p:sp>
        <p:nvSpPr>
          <p:cNvPr id="6" name="Text 3"/>
          <p:cNvSpPr/>
          <p:nvPr/>
        </p:nvSpPr>
        <p:spPr>
          <a:xfrm>
            <a:off x="91440" y="2468880"/>
            <a:ext cx="2377440" cy="822960"/>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AI Language Model</a:t>
            </a:r>
            <a:endParaRPr lang="en-US" sz="1500" dirty="0"/>
          </a:p>
        </p:txBody>
      </p:sp>
      <p:sp>
        <p:nvSpPr>
          <p:cNvPr id="7" name="Text 4"/>
          <p:cNvSpPr/>
          <p:nvPr/>
        </p:nvSpPr>
        <p:spPr>
          <a:xfrm>
            <a:off x="91440" y="3246120"/>
            <a:ext cx="2377440" cy="457200"/>
          </a:xfrm>
          <a:prstGeom prst="rect">
            <a:avLst/>
          </a:prstGeom>
          <a:noFill/>
          <a:ln/>
        </p:spPr>
        <p:txBody>
          <a:bodyPr wrap="square" rtlCol="0" anchor="ctr"/>
          <a:lstStyle/>
          <a:p>
            <a:pPr algn="ctr" indent="0" marL="0">
              <a:buNone/>
            </a:pPr>
            <a:r>
              <a:rPr lang="en-US" sz="1000" i="1" dirty="0">
                <a:solidFill>
                  <a:srgbClr val="DDDDDD"/>
                </a:solidFill>
                <a:latin typeface="Arial" pitchFamily="34" charset="0"/>
                <a:ea typeface="Arial" pitchFamily="34" charset="-122"/>
                <a:cs typeface="Arial" pitchFamily="34" charset="-120"/>
              </a:rPr>
              <a:t>Azure OpenAI Service</a:t>
            </a:r>
            <a:endParaRPr lang="en-US" sz="1000" dirty="0"/>
          </a:p>
        </p:txBody>
      </p:sp>
      <p:sp>
        <p:nvSpPr>
          <p:cNvPr id="8" name="Text 5"/>
          <p:cNvSpPr/>
          <p:nvPr/>
        </p:nvSpPr>
        <p:spPr>
          <a:xfrm>
            <a:off x="2834640" y="137160"/>
            <a:ext cx="6035040" cy="320040"/>
          </a:xfrm>
          <a:prstGeom prst="rect">
            <a:avLst/>
          </a:prstGeom>
          <a:noFill/>
          <a:ln/>
        </p:spPr>
        <p:txBody>
          <a:bodyPr wrap="square" rtlCol="0" anchor="ctr"/>
          <a:lstStyle/>
          <a:p>
            <a:pPr indent="0" marL="0">
              <a:buNone/>
            </a:pPr>
            <a:r>
              <a:rPr lang="en-US" sz="1000" b="1" spc="200" kern="0" dirty="0">
                <a:solidFill>
                  <a:srgbClr val="C62828"/>
                </a:solidFill>
                <a:latin typeface="Arial" pitchFamily="34" charset="0"/>
                <a:ea typeface="Arial" pitchFamily="34" charset="-122"/>
                <a:cs typeface="Arial" pitchFamily="34" charset="-120"/>
              </a:rPr>
              <a:t>What it does</a:t>
            </a:r>
            <a:endParaRPr lang="en-US" sz="1000" dirty="0"/>
          </a:p>
        </p:txBody>
      </p:sp>
      <p:sp>
        <p:nvSpPr>
          <p:cNvPr id="9" name="Text 6"/>
          <p:cNvSpPr/>
          <p:nvPr/>
        </p:nvSpPr>
        <p:spPr>
          <a:xfrm>
            <a:off x="2834640" y="438912"/>
            <a:ext cx="6035040" cy="777240"/>
          </a:xfrm>
          <a:prstGeom prst="rect">
            <a:avLst/>
          </a:prstGeom>
          <a:noFill/>
          <a:ln/>
        </p:spPr>
        <p:txBody>
          <a:bodyPr wrap="square" rtlCol="0" anchor="ctr"/>
          <a:lstStyle/>
          <a:p>
            <a:pPr indent="0" marL="0">
              <a:buNone/>
            </a:pPr>
            <a:r>
              <a:rPr lang="en-US" sz="1200" dirty="0">
                <a:solidFill>
                  <a:srgbClr val="222222"/>
                </a:solidFill>
                <a:latin typeface="Arial" pitchFamily="34" charset="0"/>
                <a:ea typeface="Arial" pitchFamily="34" charset="-122"/>
                <a:cs typeface="Arial" pitchFamily="34" charset="-120"/>
              </a:rPr>
              <a:t>An enterprise AI service that reads survey documentation and drafts Harmonization Specifications — structured proposals for how each raw variable should be mapped to a GMD variable. The AI proposes; a human expert always approves.</a:t>
            </a:r>
            <a:endParaRPr lang="en-US" sz="1200" dirty="0"/>
          </a:p>
        </p:txBody>
      </p:sp>
      <p:sp>
        <p:nvSpPr>
          <p:cNvPr id="10" name="Shape 7"/>
          <p:cNvSpPr/>
          <p:nvPr/>
        </p:nvSpPr>
        <p:spPr>
          <a:xfrm>
            <a:off x="2834640" y="1261872"/>
            <a:ext cx="6035040" cy="27432"/>
          </a:xfrm>
          <a:prstGeom prst="rect">
            <a:avLst/>
          </a:prstGeom>
          <a:solidFill>
            <a:srgbClr val="EEEEEE"/>
          </a:solidFill>
          <a:ln w="12700">
            <a:solidFill>
              <a:srgbClr val="EEEEEE"/>
            </a:solidFill>
            <a:prstDash val="solid"/>
          </a:ln>
        </p:spPr>
      </p:sp>
      <p:sp>
        <p:nvSpPr>
          <p:cNvPr id="11" name="Text 8"/>
          <p:cNvSpPr/>
          <p:nvPr/>
        </p:nvSpPr>
        <p:spPr>
          <a:xfrm>
            <a:off x="2834640" y="1371600"/>
            <a:ext cx="6035040" cy="320040"/>
          </a:xfrm>
          <a:prstGeom prst="rect">
            <a:avLst/>
          </a:prstGeom>
          <a:noFill/>
          <a:ln/>
        </p:spPr>
        <p:txBody>
          <a:bodyPr wrap="square" rtlCol="0" anchor="ctr"/>
          <a:lstStyle/>
          <a:p>
            <a:pPr indent="0" marL="0">
              <a:buNone/>
            </a:pPr>
            <a:r>
              <a:rPr lang="en-US" sz="1000" b="1" spc="200" kern="0" dirty="0">
                <a:solidFill>
                  <a:srgbClr val="C62828"/>
                </a:solidFill>
                <a:latin typeface="Arial" pitchFamily="34" charset="0"/>
                <a:ea typeface="Arial" pitchFamily="34" charset="-122"/>
                <a:cs typeface="Arial" pitchFamily="34" charset="-120"/>
              </a:rPr>
              <a:t>Why we need it</a:t>
            </a:r>
            <a:endParaRPr lang="en-US" sz="1000" dirty="0"/>
          </a:p>
        </p:txBody>
      </p:sp>
      <p:sp>
        <p:nvSpPr>
          <p:cNvPr id="12" name="Text 9"/>
          <p:cNvSpPr/>
          <p:nvPr/>
        </p:nvSpPr>
        <p:spPr>
          <a:xfrm>
            <a:off x="2834640" y="1673352"/>
            <a:ext cx="6035040" cy="777240"/>
          </a:xfrm>
          <a:prstGeom prst="rect">
            <a:avLst/>
          </a:prstGeom>
          <a:noFill/>
          <a:ln/>
        </p:spPr>
        <p:txBody>
          <a:bodyPr wrap="square" rtlCol="0" anchor="ctr"/>
          <a:lstStyle/>
          <a:p>
            <a:pPr indent="0" marL="0">
              <a:buNone/>
            </a:pPr>
            <a:r>
              <a:rPr lang="en-US" sz="1200" dirty="0">
                <a:solidFill>
                  <a:srgbClr val="222222"/>
                </a:solidFill>
                <a:latin typeface="Arial" pitchFamily="34" charset="0"/>
                <a:ea typeface="Arial" pitchFamily="34" charset="-122"/>
                <a:cs typeface="Arial" pitchFamily="34" charset="-120"/>
              </a:rPr>
              <a:t>Survey harmonization requires understanding natural language in questionnaires and codebooks. We cannot use public AI services (e.g., OpenAI's public API) because household microdata is sensitive and no institutional data agreement exists. We need an enterprise AI service that runs within the WBG Azure environment with full data residency guarantees.</a:t>
            </a:r>
            <a:endParaRPr lang="en-US" sz="1200" dirty="0"/>
          </a:p>
        </p:txBody>
      </p:sp>
      <p:sp>
        <p:nvSpPr>
          <p:cNvPr id="13" name="Shape 10"/>
          <p:cNvSpPr/>
          <p:nvPr/>
        </p:nvSpPr>
        <p:spPr>
          <a:xfrm>
            <a:off x="2834640" y="2496312"/>
            <a:ext cx="6035040" cy="27432"/>
          </a:xfrm>
          <a:prstGeom prst="rect">
            <a:avLst/>
          </a:prstGeom>
          <a:solidFill>
            <a:srgbClr val="EEEEEE"/>
          </a:solidFill>
          <a:ln w="12700">
            <a:solidFill>
              <a:srgbClr val="EEEEEE"/>
            </a:solidFill>
            <a:prstDash val="solid"/>
          </a:ln>
        </p:spPr>
      </p:sp>
      <p:sp>
        <p:nvSpPr>
          <p:cNvPr id="14" name="Text 11"/>
          <p:cNvSpPr/>
          <p:nvPr/>
        </p:nvSpPr>
        <p:spPr>
          <a:xfrm>
            <a:off x="2834640" y="2606040"/>
            <a:ext cx="6035040" cy="320040"/>
          </a:xfrm>
          <a:prstGeom prst="rect">
            <a:avLst/>
          </a:prstGeom>
          <a:noFill/>
          <a:ln/>
        </p:spPr>
        <p:txBody>
          <a:bodyPr wrap="square" rtlCol="0" anchor="ctr"/>
          <a:lstStyle/>
          <a:p>
            <a:pPr indent="0" marL="0">
              <a:buNone/>
            </a:pPr>
            <a:r>
              <a:rPr lang="en-US" sz="1000" b="1" spc="200" kern="0" dirty="0">
                <a:solidFill>
                  <a:srgbClr val="C62828"/>
                </a:solidFill>
                <a:latin typeface="Arial" pitchFamily="34" charset="0"/>
                <a:ea typeface="Arial" pitchFamily="34" charset="-122"/>
                <a:cs typeface="Arial" pitchFamily="34" charset="-120"/>
              </a:rPr>
              <a:t>Azure service</a:t>
            </a:r>
            <a:endParaRPr lang="en-US" sz="1000" dirty="0"/>
          </a:p>
        </p:txBody>
      </p:sp>
      <p:sp>
        <p:nvSpPr>
          <p:cNvPr id="15" name="Text 12"/>
          <p:cNvSpPr/>
          <p:nvPr/>
        </p:nvSpPr>
        <p:spPr>
          <a:xfrm>
            <a:off x="2834640" y="2907792"/>
            <a:ext cx="6035040" cy="457200"/>
          </a:xfrm>
          <a:prstGeom prst="rect">
            <a:avLst/>
          </a:prstGeom>
          <a:noFill/>
          <a:ln/>
        </p:spPr>
        <p:txBody>
          <a:bodyPr wrap="square" rtlCol="0" anchor="ctr"/>
          <a:lstStyle/>
          <a:p>
            <a:pPr indent="0" marL="0">
              <a:buNone/>
            </a:pPr>
            <a:r>
              <a:rPr lang="en-US" sz="1200" dirty="0">
                <a:solidFill>
                  <a:srgbClr val="222222"/>
                </a:solidFill>
                <a:latin typeface="Arial" pitchFamily="34" charset="0"/>
                <a:ea typeface="Arial" pitchFamily="34" charset="-122"/>
                <a:cs typeface="Arial" pitchFamily="34" charset="-120"/>
              </a:rPr>
              <a:t>Azure OpenAI Service — the same AI capability as commercial products, but running entirely within Azure under a formal enterprise agreement. Data never leaves Azure and is not used to train future models.</a:t>
            </a:r>
            <a:endParaRPr lang="en-US" sz="1200" dirty="0"/>
          </a:p>
        </p:txBody>
      </p:sp>
      <p:sp>
        <p:nvSpPr>
          <p:cNvPr id="16" name="Shape 13"/>
          <p:cNvSpPr/>
          <p:nvPr/>
        </p:nvSpPr>
        <p:spPr>
          <a:xfrm>
            <a:off x="2834640" y="3474720"/>
            <a:ext cx="6035040" cy="1463040"/>
          </a:xfrm>
          <a:prstGeom prst="rect">
            <a:avLst/>
          </a:prstGeom>
          <a:solidFill>
            <a:srgbClr val="FFEBEE"/>
          </a:solidFill>
          <a:ln w="12700">
            <a:solidFill>
              <a:srgbClr val="C62828"/>
            </a:solidFill>
            <a:prstDash val="solid"/>
          </a:ln>
        </p:spPr>
      </p:sp>
      <p:sp>
        <p:nvSpPr>
          <p:cNvPr id="17" name="Shape 14"/>
          <p:cNvSpPr/>
          <p:nvPr/>
        </p:nvSpPr>
        <p:spPr>
          <a:xfrm>
            <a:off x="2834640" y="3474720"/>
            <a:ext cx="73152" cy="1463040"/>
          </a:xfrm>
          <a:prstGeom prst="rect">
            <a:avLst/>
          </a:prstGeom>
          <a:solidFill>
            <a:srgbClr val="C62828"/>
          </a:solidFill>
          <a:ln w="12700">
            <a:solidFill>
              <a:srgbClr val="C62828"/>
            </a:solidFill>
            <a:prstDash val="solid"/>
          </a:ln>
        </p:spPr>
      </p:sp>
      <p:sp>
        <p:nvSpPr>
          <p:cNvPr id="18" name="Text 15"/>
          <p:cNvSpPr/>
          <p:nvPr/>
        </p:nvSpPr>
        <p:spPr>
          <a:xfrm>
            <a:off x="2971800" y="3538728"/>
            <a:ext cx="5806440" cy="274320"/>
          </a:xfrm>
          <a:prstGeom prst="rect">
            <a:avLst/>
          </a:prstGeom>
          <a:noFill/>
          <a:ln/>
        </p:spPr>
        <p:txBody>
          <a:bodyPr wrap="square" rtlCol="0" anchor="ctr"/>
          <a:lstStyle/>
          <a:p>
            <a:pPr indent="0" marL="0">
              <a:buNone/>
            </a:pPr>
            <a:r>
              <a:rPr lang="en-US" sz="900" b="1" spc="200" kern="0" dirty="0">
                <a:solidFill>
                  <a:srgbClr val="C62828"/>
                </a:solidFill>
                <a:latin typeface="Arial" pitchFamily="34" charset="0"/>
                <a:ea typeface="Arial" pitchFamily="34" charset="-122"/>
                <a:cs typeface="Arial" pitchFamily="34" charset="-120"/>
              </a:rPr>
              <a:t>★  ITS QUESTION — PRIORITY</a:t>
            </a:r>
            <a:endParaRPr lang="en-US" sz="900" dirty="0"/>
          </a:p>
        </p:txBody>
      </p:sp>
      <p:sp>
        <p:nvSpPr>
          <p:cNvPr id="19" name="Text 16"/>
          <p:cNvSpPr/>
          <p:nvPr/>
        </p:nvSpPr>
        <p:spPr>
          <a:xfrm>
            <a:off x="2971800" y="3813048"/>
            <a:ext cx="5806440" cy="1051560"/>
          </a:xfrm>
          <a:prstGeom prst="rect">
            <a:avLst/>
          </a:prstGeom>
          <a:noFill/>
          <a:ln/>
        </p:spPr>
        <p:txBody>
          <a:bodyPr wrap="square" rtlCol="0" anchor="ctr"/>
          <a:lstStyle/>
          <a:p>
            <a:pPr indent="0" marL="0">
              <a:buNone/>
            </a:pPr>
            <a:r>
              <a:rPr lang="en-US" sz="1100" dirty="0">
                <a:solidFill>
                  <a:srgbClr val="333333"/>
                </a:solidFill>
                <a:latin typeface="Arial" pitchFamily="34" charset="0"/>
                <a:ea typeface="Arial" pitchFamily="34" charset="-122"/>
                <a:cs typeface="Arial" pitchFamily="34" charset="-120"/>
              </a:rPr>
              <a:t>Is Azure OpenAI Service approved in the WBG Azure tenant? If yes: what data classification levels are permitted? If no: what is the approved path for using large language models in our environment?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0" cy="5143500"/>
          </a:xfrm>
          <a:prstGeom prst="rect">
            <a:avLst/>
          </a:prstGeom>
          <a:solidFill>
            <a:srgbClr val="6A1B9A"/>
          </a:solidFill>
          <a:ln w="12700">
            <a:solidFill>
              <a:srgbClr val="6A1B9A"/>
            </a:solidFill>
            <a:prstDash val="solid"/>
          </a:ln>
        </p:spPr>
      </p:sp>
      <p:sp>
        <p:nvSpPr>
          <p:cNvPr id="3" name="Text 1"/>
          <p:cNvSpPr/>
          <p:nvPr/>
        </p:nvSpPr>
        <p:spPr>
          <a:xfrm>
            <a:off x="45720" y="228600"/>
            <a:ext cx="2468880" cy="320040"/>
          </a:xfrm>
          <a:prstGeom prst="rect">
            <a:avLst/>
          </a:prstGeom>
          <a:noFill/>
          <a:ln/>
        </p:spPr>
        <p:txBody>
          <a:bodyPr wrap="square" rtlCol="0" anchor="ctr"/>
          <a:lstStyle/>
          <a:p>
            <a:pPr algn="ctr" indent="0" marL="0">
              <a:buNone/>
            </a:pPr>
            <a:r>
              <a:rPr lang="en-US" sz="900" b="1" spc="400" kern="0" dirty="0">
                <a:solidFill>
                  <a:srgbClr val="FFFFFF"/>
                </a:solidFill>
                <a:latin typeface="Arial" pitchFamily="34" charset="0"/>
                <a:ea typeface="Arial" pitchFamily="34" charset="-122"/>
                <a:cs typeface="Arial" pitchFamily="34" charset="-120"/>
              </a:rPr>
              <a:t>COMPONENT</a:t>
            </a:r>
            <a:endParaRPr lang="en-US" sz="900" dirty="0"/>
          </a:p>
        </p:txBody>
      </p:sp>
      <p:sp>
        <p:nvSpPr>
          <p:cNvPr id="4" name="Text 2"/>
          <p:cNvSpPr/>
          <p:nvPr/>
        </p:nvSpPr>
        <p:spPr>
          <a:xfrm>
            <a:off x="45720" y="502920"/>
            <a:ext cx="2468880" cy="1005840"/>
          </a:xfrm>
          <a:prstGeom prst="rect">
            <a:avLst/>
          </a:prstGeom>
          <a:noFill/>
          <a:ln/>
        </p:spPr>
        <p:txBody>
          <a:bodyPr wrap="square" rtlCol="0" anchor="ctr"/>
          <a:lstStyle/>
          <a:p>
            <a:pPr algn="ctr" indent="0" marL="0">
              <a:buNone/>
            </a:pPr>
            <a:r>
              <a:rPr lang="en-US" sz="7200" b="1" dirty="0">
                <a:solidFill>
                  <a:srgbClr val="FFFFFF"/>
                </a:solidFill>
                <a:latin typeface="Arial" pitchFamily="34" charset="0"/>
                <a:ea typeface="Arial" pitchFamily="34" charset="-122"/>
                <a:cs typeface="Arial" pitchFamily="34" charset="-120"/>
              </a:rPr>
              <a:t>4</a:t>
            </a:r>
            <a:endParaRPr lang="en-US" sz="7200" dirty="0"/>
          </a:p>
        </p:txBody>
      </p:sp>
      <p:pic>
        <p:nvPicPr>
          <p:cNvPr id="5" name="Image 0" descr="preencoded.png">    </p:cNvPr>
          <p:cNvPicPr>
            <a:picLocks noChangeAspect="1"/>
          </p:cNvPicPr>
          <p:nvPr/>
        </p:nvPicPr>
        <p:blipFill>
          <a:blip r:embed="rId1"/>
          <a:stretch>
            <a:fillRect/>
          </a:stretch>
        </p:blipFill>
        <p:spPr>
          <a:xfrm>
            <a:off x="914400" y="1600200"/>
            <a:ext cx="731520" cy="731520"/>
          </a:xfrm>
          <a:prstGeom prst="rect">
            <a:avLst/>
          </a:prstGeom>
        </p:spPr>
      </p:pic>
      <p:sp>
        <p:nvSpPr>
          <p:cNvPr id="6" name="Text 3"/>
          <p:cNvSpPr/>
          <p:nvPr/>
        </p:nvSpPr>
        <p:spPr>
          <a:xfrm>
            <a:off x="91440" y="2468880"/>
            <a:ext cx="2377440" cy="822960"/>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Historical Decisions Database</a:t>
            </a:r>
            <a:endParaRPr lang="en-US" sz="1500" dirty="0"/>
          </a:p>
        </p:txBody>
      </p:sp>
      <p:sp>
        <p:nvSpPr>
          <p:cNvPr id="7" name="Text 4"/>
          <p:cNvSpPr/>
          <p:nvPr/>
        </p:nvSpPr>
        <p:spPr>
          <a:xfrm>
            <a:off x="91440" y="3246120"/>
            <a:ext cx="2377440" cy="457200"/>
          </a:xfrm>
          <a:prstGeom prst="rect">
            <a:avLst/>
          </a:prstGeom>
          <a:noFill/>
          <a:ln/>
        </p:spPr>
        <p:txBody>
          <a:bodyPr wrap="square" rtlCol="0" anchor="ctr"/>
          <a:lstStyle/>
          <a:p>
            <a:pPr algn="ctr" indent="0" marL="0">
              <a:buNone/>
            </a:pPr>
            <a:r>
              <a:rPr lang="en-US" sz="1000" i="1" dirty="0">
                <a:solidFill>
                  <a:srgbClr val="DDDDDD"/>
                </a:solidFill>
                <a:latin typeface="Arial" pitchFamily="34" charset="0"/>
                <a:ea typeface="Arial" pitchFamily="34" charset="-122"/>
                <a:cs typeface="Arial" pitchFamily="34" charset="-120"/>
              </a:rPr>
              <a:t>Azure AI Search (vector)</a:t>
            </a:r>
            <a:endParaRPr lang="en-US" sz="1000" dirty="0"/>
          </a:p>
        </p:txBody>
      </p:sp>
      <p:sp>
        <p:nvSpPr>
          <p:cNvPr id="8" name="Text 5"/>
          <p:cNvSpPr/>
          <p:nvPr/>
        </p:nvSpPr>
        <p:spPr>
          <a:xfrm>
            <a:off x="2834640" y="137160"/>
            <a:ext cx="6035040" cy="320040"/>
          </a:xfrm>
          <a:prstGeom prst="rect">
            <a:avLst/>
          </a:prstGeom>
          <a:noFill/>
          <a:ln/>
        </p:spPr>
        <p:txBody>
          <a:bodyPr wrap="square" rtlCol="0" anchor="ctr"/>
          <a:lstStyle/>
          <a:p>
            <a:pPr indent="0" marL="0">
              <a:buNone/>
            </a:pPr>
            <a:r>
              <a:rPr lang="en-US" sz="1000" b="1" spc="200" kern="0" dirty="0">
                <a:solidFill>
                  <a:srgbClr val="6A1B9A"/>
                </a:solidFill>
                <a:latin typeface="Arial" pitchFamily="34" charset="0"/>
                <a:ea typeface="Arial" pitchFamily="34" charset="-122"/>
                <a:cs typeface="Arial" pitchFamily="34" charset="-120"/>
              </a:rPr>
              <a:t>What it does</a:t>
            </a:r>
            <a:endParaRPr lang="en-US" sz="1000" dirty="0"/>
          </a:p>
        </p:txBody>
      </p:sp>
      <p:sp>
        <p:nvSpPr>
          <p:cNvPr id="9" name="Text 6"/>
          <p:cNvSpPr/>
          <p:nvPr/>
        </p:nvSpPr>
        <p:spPr>
          <a:xfrm>
            <a:off x="2834640" y="438912"/>
            <a:ext cx="6035040" cy="777240"/>
          </a:xfrm>
          <a:prstGeom prst="rect">
            <a:avLst/>
          </a:prstGeom>
          <a:noFill/>
          <a:ln/>
        </p:spPr>
        <p:txBody>
          <a:bodyPr wrap="square" rtlCol="0" anchor="ctr"/>
          <a:lstStyle/>
          <a:p>
            <a:pPr indent="0" marL="0">
              <a:buNone/>
            </a:pPr>
            <a:r>
              <a:rPr lang="en-US" sz="1200" dirty="0">
                <a:solidFill>
                  <a:srgbClr val="222222"/>
                </a:solidFill>
                <a:latin typeface="Arial" pitchFamily="34" charset="0"/>
                <a:ea typeface="Arial" pitchFamily="34" charset="-122"/>
                <a:cs typeface="Arial" pitchFamily="34" charset="-120"/>
              </a:rPr>
              <a:t>A searchable database of structured records from every past harmonization decision — what the source variable was, how it was transformed, and any human overrides with their justifications. The AI consults this when drafting specifications, using precedents as informed guidance.</a:t>
            </a:r>
            <a:endParaRPr lang="en-US" sz="1200" dirty="0"/>
          </a:p>
        </p:txBody>
      </p:sp>
      <p:sp>
        <p:nvSpPr>
          <p:cNvPr id="10" name="Shape 7"/>
          <p:cNvSpPr/>
          <p:nvPr/>
        </p:nvSpPr>
        <p:spPr>
          <a:xfrm>
            <a:off x="2834640" y="1261872"/>
            <a:ext cx="6035040" cy="27432"/>
          </a:xfrm>
          <a:prstGeom prst="rect">
            <a:avLst/>
          </a:prstGeom>
          <a:solidFill>
            <a:srgbClr val="EEEEEE"/>
          </a:solidFill>
          <a:ln w="12700">
            <a:solidFill>
              <a:srgbClr val="EEEEEE"/>
            </a:solidFill>
            <a:prstDash val="solid"/>
          </a:ln>
        </p:spPr>
      </p:sp>
      <p:sp>
        <p:nvSpPr>
          <p:cNvPr id="11" name="Text 8"/>
          <p:cNvSpPr/>
          <p:nvPr/>
        </p:nvSpPr>
        <p:spPr>
          <a:xfrm>
            <a:off x="2834640" y="1371600"/>
            <a:ext cx="6035040" cy="320040"/>
          </a:xfrm>
          <a:prstGeom prst="rect">
            <a:avLst/>
          </a:prstGeom>
          <a:noFill/>
          <a:ln/>
        </p:spPr>
        <p:txBody>
          <a:bodyPr wrap="square" rtlCol="0" anchor="ctr"/>
          <a:lstStyle/>
          <a:p>
            <a:pPr indent="0" marL="0">
              <a:buNone/>
            </a:pPr>
            <a:r>
              <a:rPr lang="en-US" sz="1000" b="1" spc="200" kern="0" dirty="0">
                <a:solidFill>
                  <a:srgbClr val="6A1B9A"/>
                </a:solidFill>
                <a:latin typeface="Arial" pitchFamily="34" charset="0"/>
                <a:ea typeface="Arial" pitchFamily="34" charset="-122"/>
                <a:cs typeface="Arial" pitchFamily="34" charset="-120"/>
              </a:rPr>
              <a:t>Why we need it</a:t>
            </a:r>
            <a:endParaRPr lang="en-US" sz="1000" dirty="0"/>
          </a:p>
        </p:txBody>
      </p:sp>
      <p:sp>
        <p:nvSpPr>
          <p:cNvPr id="12" name="Text 9"/>
          <p:cNvSpPr/>
          <p:nvPr/>
        </p:nvSpPr>
        <p:spPr>
          <a:xfrm>
            <a:off x="2834640" y="1673352"/>
            <a:ext cx="6035040" cy="777240"/>
          </a:xfrm>
          <a:prstGeom prst="rect">
            <a:avLst/>
          </a:prstGeom>
          <a:noFill/>
          <a:ln/>
        </p:spPr>
        <p:txBody>
          <a:bodyPr wrap="square" rtlCol="0" anchor="ctr"/>
          <a:lstStyle/>
          <a:p>
            <a:pPr indent="0" marL="0">
              <a:buNone/>
            </a:pPr>
            <a:r>
              <a:rPr lang="en-US" sz="1200" dirty="0">
                <a:solidFill>
                  <a:srgbClr val="222222"/>
                </a:solidFill>
                <a:latin typeface="Arial" pitchFamily="34" charset="0"/>
                <a:ea typeface="Arial" pitchFamily="34" charset="-122"/>
                <a:cs typeface="Arial" pitchFamily="34" charset="-120"/>
              </a:rPr>
              <a:t>Unlike the rules database (exact lookups), this database must support fuzzy, similarity-based retrieval: 'find past decisions about education variables from similar surveys.' Standard SQL cannot do this. It requires a vector database that converts meaning into mathematical representations and finds closest matches — the mechanism behind RAG (Retrieval-Augmented Generation).</a:t>
            </a:r>
            <a:endParaRPr lang="en-US" sz="1200" dirty="0"/>
          </a:p>
        </p:txBody>
      </p:sp>
      <p:sp>
        <p:nvSpPr>
          <p:cNvPr id="13" name="Shape 10"/>
          <p:cNvSpPr/>
          <p:nvPr/>
        </p:nvSpPr>
        <p:spPr>
          <a:xfrm>
            <a:off x="2834640" y="2496312"/>
            <a:ext cx="6035040" cy="27432"/>
          </a:xfrm>
          <a:prstGeom prst="rect">
            <a:avLst/>
          </a:prstGeom>
          <a:solidFill>
            <a:srgbClr val="EEEEEE"/>
          </a:solidFill>
          <a:ln w="12700">
            <a:solidFill>
              <a:srgbClr val="EEEEEE"/>
            </a:solidFill>
            <a:prstDash val="solid"/>
          </a:ln>
        </p:spPr>
      </p:sp>
      <p:sp>
        <p:nvSpPr>
          <p:cNvPr id="14" name="Text 11"/>
          <p:cNvSpPr/>
          <p:nvPr/>
        </p:nvSpPr>
        <p:spPr>
          <a:xfrm>
            <a:off x="2834640" y="2606040"/>
            <a:ext cx="6035040" cy="320040"/>
          </a:xfrm>
          <a:prstGeom prst="rect">
            <a:avLst/>
          </a:prstGeom>
          <a:noFill/>
          <a:ln/>
        </p:spPr>
        <p:txBody>
          <a:bodyPr wrap="square" rtlCol="0" anchor="ctr"/>
          <a:lstStyle/>
          <a:p>
            <a:pPr indent="0" marL="0">
              <a:buNone/>
            </a:pPr>
            <a:r>
              <a:rPr lang="en-US" sz="1000" b="1" spc="200" kern="0" dirty="0">
                <a:solidFill>
                  <a:srgbClr val="6A1B9A"/>
                </a:solidFill>
                <a:latin typeface="Arial" pitchFamily="34" charset="0"/>
                <a:ea typeface="Arial" pitchFamily="34" charset="-122"/>
                <a:cs typeface="Arial" pitchFamily="34" charset="-120"/>
              </a:rPr>
              <a:t>Azure service</a:t>
            </a:r>
            <a:endParaRPr lang="en-US" sz="1000" dirty="0"/>
          </a:p>
        </p:txBody>
      </p:sp>
      <p:sp>
        <p:nvSpPr>
          <p:cNvPr id="15" name="Text 12"/>
          <p:cNvSpPr/>
          <p:nvPr/>
        </p:nvSpPr>
        <p:spPr>
          <a:xfrm>
            <a:off x="2834640" y="2907792"/>
            <a:ext cx="6035040" cy="457200"/>
          </a:xfrm>
          <a:prstGeom prst="rect">
            <a:avLst/>
          </a:prstGeom>
          <a:noFill/>
          <a:ln/>
        </p:spPr>
        <p:txBody>
          <a:bodyPr wrap="square" rtlCol="0" anchor="ctr"/>
          <a:lstStyle/>
          <a:p>
            <a:pPr indent="0" marL="0">
              <a:buNone/>
            </a:pPr>
            <a:r>
              <a:rPr lang="en-US" sz="1200" dirty="0">
                <a:solidFill>
                  <a:srgbClr val="222222"/>
                </a:solidFill>
                <a:latin typeface="Arial" pitchFamily="34" charset="0"/>
                <a:ea typeface="Arial" pitchFamily="34" charset="-122"/>
                <a:cs typeface="Arial" pitchFamily="34" charset="-120"/>
              </a:rPr>
              <a:t>Azure AI Search with vector search capabilities. Supports both keyword and similarity-based retrieval. We have a significant head start: enriched DDI files and legacy Stata scripts already encode much of this institutional knowledge and will seed the database.</a:t>
            </a:r>
            <a:endParaRPr lang="en-US" sz="1200" dirty="0"/>
          </a:p>
        </p:txBody>
      </p:sp>
      <p:sp>
        <p:nvSpPr>
          <p:cNvPr id="16" name="Shape 13"/>
          <p:cNvSpPr/>
          <p:nvPr/>
        </p:nvSpPr>
        <p:spPr>
          <a:xfrm>
            <a:off x="2834640" y="3474720"/>
            <a:ext cx="6035040" cy="1463040"/>
          </a:xfrm>
          <a:prstGeom prst="rect">
            <a:avLst/>
          </a:prstGeom>
          <a:solidFill>
            <a:srgbClr val="D5E8F0"/>
          </a:solidFill>
          <a:ln w="12700">
            <a:solidFill>
              <a:srgbClr val="003366"/>
            </a:solidFill>
            <a:prstDash val="solid"/>
          </a:ln>
        </p:spPr>
      </p:sp>
      <p:sp>
        <p:nvSpPr>
          <p:cNvPr id="17" name="Shape 14"/>
          <p:cNvSpPr/>
          <p:nvPr/>
        </p:nvSpPr>
        <p:spPr>
          <a:xfrm>
            <a:off x="2834640" y="3474720"/>
            <a:ext cx="73152" cy="1463040"/>
          </a:xfrm>
          <a:prstGeom prst="rect">
            <a:avLst/>
          </a:prstGeom>
          <a:solidFill>
            <a:srgbClr val="003366"/>
          </a:solidFill>
          <a:ln w="12700">
            <a:solidFill>
              <a:srgbClr val="003366"/>
            </a:solidFill>
            <a:prstDash val="solid"/>
          </a:ln>
        </p:spPr>
      </p:sp>
      <p:sp>
        <p:nvSpPr>
          <p:cNvPr id="18" name="Text 15"/>
          <p:cNvSpPr/>
          <p:nvPr/>
        </p:nvSpPr>
        <p:spPr>
          <a:xfrm>
            <a:off x="2971800" y="3538728"/>
            <a:ext cx="5806440" cy="274320"/>
          </a:xfrm>
          <a:prstGeom prst="rect">
            <a:avLst/>
          </a:prstGeom>
          <a:noFill/>
          <a:ln/>
        </p:spPr>
        <p:txBody>
          <a:bodyPr wrap="square" rtlCol="0" anchor="ctr"/>
          <a:lstStyle/>
          <a:p>
            <a:pPr indent="0" marL="0">
              <a:buNone/>
            </a:pPr>
            <a:r>
              <a:rPr lang="en-US" sz="900" b="1" spc="200" kern="0" dirty="0">
                <a:solidFill>
                  <a:srgbClr val="003366"/>
                </a:solidFill>
                <a:latin typeface="Arial" pitchFamily="34" charset="0"/>
                <a:ea typeface="Arial" pitchFamily="34" charset="-122"/>
                <a:cs typeface="Arial" pitchFamily="34" charset="-120"/>
              </a:rPr>
              <a:t>ITS QUESTION</a:t>
            </a:r>
            <a:endParaRPr lang="en-US" sz="900" dirty="0"/>
          </a:p>
        </p:txBody>
      </p:sp>
      <p:sp>
        <p:nvSpPr>
          <p:cNvPr id="19" name="Text 16"/>
          <p:cNvSpPr/>
          <p:nvPr/>
        </p:nvSpPr>
        <p:spPr>
          <a:xfrm>
            <a:off x="2971800" y="3813048"/>
            <a:ext cx="5806440" cy="1051560"/>
          </a:xfrm>
          <a:prstGeom prst="rect">
            <a:avLst/>
          </a:prstGeom>
          <a:noFill/>
          <a:ln/>
        </p:spPr>
        <p:txBody>
          <a:bodyPr wrap="square" rtlCol="0" anchor="ctr"/>
          <a:lstStyle/>
          <a:p>
            <a:pPr indent="0" marL="0">
              <a:buNone/>
            </a:pPr>
            <a:r>
              <a:rPr lang="en-US" sz="1100" dirty="0">
                <a:solidFill>
                  <a:srgbClr val="333333"/>
                </a:solidFill>
                <a:latin typeface="Arial" pitchFamily="34" charset="0"/>
                <a:ea typeface="Arial" pitchFamily="34" charset="-122"/>
                <a:cs typeface="Arial" pitchFamily="34" charset="-120"/>
              </a:rPr>
              <a:t>Is Azure AI Search available and approved in our environment with vector search capabilities enabled? If not, is there an alternative approved service for similarity-based document retrieval?</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0" cy="5143500"/>
          </a:xfrm>
          <a:prstGeom prst="rect">
            <a:avLst/>
          </a:prstGeom>
          <a:solidFill>
            <a:srgbClr val="E65100"/>
          </a:solidFill>
          <a:ln w="12700">
            <a:solidFill>
              <a:srgbClr val="E65100"/>
            </a:solidFill>
            <a:prstDash val="solid"/>
          </a:ln>
        </p:spPr>
      </p:sp>
      <p:sp>
        <p:nvSpPr>
          <p:cNvPr id="3" name="Text 1"/>
          <p:cNvSpPr/>
          <p:nvPr/>
        </p:nvSpPr>
        <p:spPr>
          <a:xfrm>
            <a:off x="45720" y="228600"/>
            <a:ext cx="2468880" cy="320040"/>
          </a:xfrm>
          <a:prstGeom prst="rect">
            <a:avLst/>
          </a:prstGeom>
          <a:noFill/>
          <a:ln/>
        </p:spPr>
        <p:txBody>
          <a:bodyPr wrap="square" rtlCol="0" anchor="ctr"/>
          <a:lstStyle/>
          <a:p>
            <a:pPr algn="ctr" indent="0" marL="0">
              <a:buNone/>
            </a:pPr>
            <a:r>
              <a:rPr lang="en-US" sz="900" b="1" spc="400" kern="0" dirty="0">
                <a:solidFill>
                  <a:srgbClr val="FFFFFF"/>
                </a:solidFill>
                <a:latin typeface="Arial" pitchFamily="34" charset="0"/>
                <a:ea typeface="Arial" pitchFamily="34" charset="-122"/>
                <a:cs typeface="Arial" pitchFamily="34" charset="-120"/>
              </a:rPr>
              <a:t>COMPONENT</a:t>
            </a:r>
            <a:endParaRPr lang="en-US" sz="900" dirty="0"/>
          </a:p>
        </p:txBody>
      </p:sp>
      <p:sp>
        <p:nvSpPr>
          <p:cNvPr id="4" name="Text 2"/>
          <p:cNvSpPr/>
          <p:nvPr/>
        </p:nvSpPr>
        <p:spPr>
          <a:xfrm>
            <a:off x="45720" y="502920"/>
            <a:ext cx="2468880" cy="1005840"/>
          </a:xfrm>
          <a:prstGeom prst="rect">
            <a:avLst/>
          </a:prstGeom>
          <a:noFill/>
          <a:ln/>
        </p:spPr>
        <p:txBody>
          <a:bodyPr wrap="square" rtlCol="0" anchor="ctr"/>
          <a:lstStyle/>
          <a:p>
            <a:pPr algn="ctr" indent="0" marL="0">
              <a:buNone/>
            </a:pPr>
            <a:r>
              <a:rPr lang="en-US" sz="7200" b="1" dirty="0">
                <a:solidFill>
                  <a:srgbClr val="FFFFFF"/>
                </a:solidFill>
                <a:latin typeface="Arial" pitchFamily="34" charset="0"/>
                <a:ea typeface="Arial" pitchFamily="34" charset="-122"/>
                <a:cs typeface="Arial" pitchFamily="34" charset="-120"/>
              </a:rPr>
              <a:t>5</a:t>
            </a:r>
            <a:endParaRPr lang="en-US" sz="7200" dirty="0"/>
          </a:p>
        </p:txBody>
      </p:sp>
      <p:pic>
        <p:nvPicPr>
          <p:cNvPr id="5" name="Image 0" descr="preencoded.png">    </p:cNvPr>
          <p:cNvPicPr>
            <a:picLocks noChangeAspect="1"/>
          </p:cNvPicPr>
          <p:nvPr/>
        </p:nvPicPr>
        <p:blipFill>
          <a:blip r:embed="rId1"/>
          <a:stretch>
            <a:fillRect/>
          </a:stretch>
        </p:blipFill>
        <p:spPr>
          <a:xfrm>
            <a:off x="914400" y="1600200"/>
            <a:ext cx="731520" cy="731520"/>
          </a:xfrm>
          <a:prstGeom prst="rect">
            <a:avLst/>
          </a:prstGeom>
        </p:spPr>
      </p:pic>
      <p:sp>
        <p:nvSpPr>
          <p:cNvPr id="6" name="Text 3"/>
          <p:cNvSpPr/>
          <p:nvPr/>
        </p:nvSpPr>
        <p:spPr>
          <a:xfrm>
            <a:off x="91440" y="2468880"/>
            <a:ext cx="2377440" cy="822960"/>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Compute Environment</a:t>
            </a:r>
            <a:endParaRPr lang="en-US" sz="1500" dirty="0"/>
          </a:p>
        </p:txBody>
      </p:sp>
      <p:sp>
        <p:nvSpPr>
          <p:cNvPr id="7" name="Text 4"/>
          <p:cNvSpPr/>
          <p:nvPr/>
        </p:nvSpPr>
        <p:spPr>
          <a:xfrm>
            <a:off x="91440" y="3246120"/>
            <a:ext cx="2377440" cy="457200"/>
          </a:xfrm>
          <a:prstGeom prst="rect">
            <a:avLst/>
          </a:prstGeom>
          <a:noFill/>
          <a:ln/>
        </p:spPr>
        <p:txBody>
          <a:bodyPr wrap="square" rtlCol="0" anchor="ctr"/>
          <a:lstStyle/>
          <a:p>
            <a:pPr algn="ctr" indent="0" marL="0">
              <a:buNone/>
            </a:pPr>
            <a:r>
              <a:rPr lang="en-US" sz="1000" i="1" dirty="0">
                <a:solidFill>
                  <a:srgbClr val="DDDDDD"/>
                </a:solidFill>
                <a:latin typeface="Arial" pitchFamily="34" charset="0"/>
                <a:ea typeface="Arial" pitchFamily="34" charset="-122"/>
                <a:cs typeface="Arial" pitchFamily="34" charset="-120"/>
              </a:rPr>
              <a:t>Target: AKS | Interim: TBD</a:t>
            </a:r>
            <a:endParaRPr lang="en-US" sz="1000" dirty="0"/>
          </a:p>
        </p:txBody>
      </p:sp>
      <p:sp>
        <p:nvSpPr>
          <p:cNvPr id="8" name="Text 5"/>
          <p:cNvSpPr/>
          <p:nvPr/>
        </p:nvSpPr>
        <p:spPr>
          <a:xfrm>
            <a:off x="2834640" y="137160"/>
            <a:ext cx="6035040" cy="320040"/>
          </a:xfrm>
          <a:prstGeom prst="rect">
            <a:avLst/>
          </a:prstGeom>
          <a:noFill/>
          <a:ln/>
        </p:spPr>
        <p:txBody>
          <a:bodyPr wrap="square" rtlCol="0" anchor="ctr"/>
          <a:lstStyle/>
          <a:p>
            <a:pPr indent="0" marL="0">
              <a:buNone/>
            </a:pPr>
            <a:r>
              <a:rPr lang="en-US" sz="1000" b="1" spc="200" kern="0" dirty="0">
                <a:solidFill>
                  <a:srgbClr val="E65100"/>
                </a:solidFill>
                <a:latin typeface="Arial" pitchFamily="34" charset="0"/>
                <a:ea typeface="Arial" pitchFamily="34" charset="-122"/>
                <a:cs typeface="Arial" pitchFamily="34" charset="-120"/>
              </a:rPr>
              <a:t>What it does</a:t>
            </a:r>
            <a:endParaRPr lang="en-US" sz="1000" dirty="0"/>
          </a:p>
        </p:txBody>
      </p:sp>
      <p:sp>
        <p:nvSpPr>
          <p:cNvPr id="9" name="Text 6"/>
          <p:cNvSpPr/>
          <p:nvPr/>
        </p:nvSpPr>
        <p:spPr>
          <a:xfrm>
            <a:off x="2834640" y="438912"/>
            <a:ext cx="6035040" cy="777240"/>
          </a:xfrm>
          <a:prstGeom prst="rect">
            <a:avLst/>
          </a:prstGeom>
          <a:noFill/>
          <a:ln/>
        </p:spPr>
        <p:txBody>
          <a:bodyPr wrap="square" rtlCol="0" anchor="ctr"/>
          <a:lstStyle/>
          <a:p>
            <a:pPr indent="0" marL="0">
              <a:buNone/>
            </a:pPr>
            <a:r>
              <a:rPr lang="en-US" sz="1200" dirty="0">
                <a:solidFill>
                  <a:srgbClr val="222222"/>
                </a:solidFill>
                <a:latin typeface="Arial" pitchFamily="34" charset="0"/>
                <a:ea typeface="Arial" pitchFamily="34" charset="-122"/>
                <a:cs typeface="Arial" pitchFamily="34" charset="-120"/>
              </a:rPr>
              <a:t>The platform where all pipeline code runs: fetching DDI files, processing documents, calling the AI, executing approved specifications, and running validation checks. It starts when there is work and stops when there is not — no always-on machine required.</a:t>
            </a:r>
            <a:endParaRPr lang="en-US" sz="1200" dirty="0"/>
          </a:p>
        </p:txBody>
      </p:sp>
      <p:sp>
        <p:nvSpPr>
          <p:cNvPr id="10" name="Shape 7"/>
          <p:cNvSpPr/>
          <p:nvPr/>
        </p:nvSpPr>
        <p:spPr>
          <a:xfrm>
            <a:off x="2834640" y="1261872"/>
            <a:ext cx="6035040" cy="27432"/>
          </a:xfrm>
          <a:prstGeom prst="rect">
            <a:avLst/>
          </a:prstGeom>
          <a:solidFill>
            <a:srgbClr val="EEEEEE"/>
          </a:solidFill>
          <a:ln w="12700">
            <a:solidFill>
              <a:srgbClr val="EEEEEE"/>
            </a:solidFill>
            <a:prstDash val="solid"/>
          </a:ln>
        </p:spPr>
      </p:sp>
      <p:sp>
        <p:nvSpPr>
          <p:cNvPr id="11" name="Text 8"/>
          <p:cNvSpPr/>
          <p:nvPr/>
        </p:nvSpPr>
        <p:spPr>
          <a:xfrm>
            <a:off x="2834640" y="1371600"/>
            <a:ext cx="6035040" cy="320040"/>
          </a:xfrm>
          <a:prstGeom prst="rect">
            <a:avLst/>
          </a:prstGeom>
          <a:noFill/>
          <a:ln/>
        </p:spPr>
        <p:txBody>
          <a:bodyPr wrap="square" rtlCol="0" anchor="ctr"/>
          <a:lstStyle/>
          <a:p>
            <a:pPr indent="0" marL="0">
              <a:buNone/>
            </a:pPr>
            <a:r>
              <a:rPr lang="en-US" sz="1000" b="1" spc="200" kern="0" dirty="0">
                <a:solidFill>
                  <a:srgbClr val="E65100"/>
                </a:solidFill>
                <a:latin typeface="Arial" pitchFamily="34" charset="0"/>
                <a:ea typeface="Arial" pitchFamily="34" charset="-122"/>
                <a:cs typeface="Arial" pitchFamily="34" charset="-120"/>
              </a:rPr>
              <a:t>Why we need it</a:t>
            </a:r>
            <a:endParaRPr lang="en-US" sz="1000" dirty="0"/>
          </a:p>
        </p:txBody>
      </p:sp>
      <p:sp>
        <p:nvSpPr>
          <p:cNvPr id="12" name="Text 9"/>
          <p:cNvSpPr/>
          <p:nvPr/>
        </p:nvSpPr>
        <p:spPr>
          <a:xfrm>
            <a:off x="2834640" y="1673352"/>
            <a:ext cx="6035040" cy="777240"/>
          </a:xfrm>
          <a:prstGeom prst="rect">
            <a:avLst/>
          </a:prstGeom>
          <a:noFill/>
          <a:ln/>
        </p:spPr>
        <p:txBody>
          <a:bodyPr wrap="square" rtlCol="0" anchor="ctr"/>
          <a:lstStyle/>
          <a:p>
            <a:pPr indent="0" marL="0">
              <a:buNone/>
            </a:pPr>
            <a:r>
              <a:rPr lang="en-US" sz="1200" dirty="0">
                <a:solidFill>
                  <a:srgbClr val="222222"/>
                </a:solidFill>
                <a:latin typeface="Arial" pitchFamily="34" charset="0"/>
                <a:ea typeface="Arial" pitchFamily="34" charset="-122"/>
                <a:cs typeface="Arial" pitchFamily="34" charset="-120"/>
              </a:rPr>
              <a:t>Survey harmonization happens in bursts, not continuously. A permanent virtual machine (VM) would waste money running idle most of the time. We need event-driven compute that scales to zero when not in use. Critically, our team must be able to deploy code and access logs independently — without routing every change through ITS.</a:t>
            </a:r>
            <a:endParaRPr lang="en-US" sz="1200" dirty="0"/>
          </a:p>
        </p:txBody>
      </p:sp>
      <p:sp>
        <p:nvSpPr>
          <p:cNvPr id="13" name="Shape 10"/>
          <p:cNvSpPr/>
          <p:nvPr/>
        </p:nvSpPr>
        <p:spPr>
          <a:xfrm>
            <a:off x="2834640" y="2496312"/>
            <a:ext cx="6035040" cy="27432"/>
          </a:xfrm>
          <a:prstGeom prst="rect">
            <a:avLst/>
          </a:prstGeom>
          <a:solidFill>
            <a:srgbClr val="EEEEEE"/>
          </a:solidFill>
          <a:ln w="12700">
            <a:solidFill>
              <a:srgbClr val="EEEEEE"/>
            </a:solidFill>
            <a:prstDash val="solid"/>
          </a:ln>
        </p:spPr>
      </p:sp>
      <p:sp>
        <p:nvSpPr>
          <p:cNvPr id="14" name="Text 11"/>
          <p:cNvSpPr/>
          <p:nvPr/>
        </p:nvSpPr>
        <p:spPr>
          <a:xfrm>
            <a:off x="2834640" y="2606040"/>
            <a:ext cx="6035040" cy="320040"/>
          </a:xfrm>
          <a:prstGeom prst="rect">
            <a:avLst/>
          </a:prstGeom>
          <a:noFill/>
          <a:ln/>
        </p:spPr>
        <p:txBody>
          <a:bodyPr wrap="square" rtlCol="0" anchor="ctr"/>
          <a:lstStyle/>
          <a:p>
            <a:pPr indent="0" marL="0">
              <a:buNone/>
            </a:pPr>
            <a:r>
              <a:rPr lang="en-US" sz="1000" b="1" spc="200" kern="0" dirty="0">
                <a:solidFill>
                  <a:srgbClr val="E65100"/>
                </a:solidFill>
                <a:latin typeface="Arial" pitchFamily="34" charset="0"/>
                <a:ea typeface="Arial" pitchFamily="34" charset="-122"/>
                <a:cs typeface="Arial" pitchFamily="34" charset="-120"/>
              </a:rPr>
              <a:t>Azure service</a:t>
            </a:r>
            <a:endParaRPr lang="en-US" sz="1000" dirty="0"/>
          </a:p>
        </p:txBody>
      </p:sp>
      <p:sp>
        <p:nvSpPr>
          <p:cNvPr id="15" name="Text 12"/>
          <p:cNvSpPr/>
          <p:nvPr/>
        </p:nvSpPr>
        <p:spPr>
          <a:xfrm>
            <a:off x="2834640" y="2907792"/>
            <a:ext cx="6035040" cy="457200"/>
          </a:xfrm>
          <a:prstGeom prst="rect">
            <a:avLst/>
          </a:prstGeom>
          <a:noFill/>
          <a:ln/>
        </p:spPr>
        <p:txBody>
          <a:bodyPr wrap="square" rtlCol="0" anchor="ctr"/>
          <a:lstStyle/>
          <a:p>
            <a:pPr indent="0" marL="0">
              <a:buNone/>
            </a:pPr>
            <a:r>
              <a:rPr lang="en-US" sz="1200" dirty="0">
                <a:solidFill>
                  <a:srgbClr val="222222"/>
                </a:solidFill>
                <a:latin typeface="Arial" pitchFamily="34" charset="0"/>
                <a:ea typeface="Arial" pitchFamily="34" charset="-122"/>
                <a:cs typeface="Arial" pitchFamily="34" charset="-120"/>
              </a:rPr>
              <a:t>Target: Azure Kubernetes Service (AKS). For the PoC, we may start with a lighter option (e.g. Azure Container Apps) if it allows faster provisioning — but AKS must remain the confirmed production path. Any interim solution must be a stepping stone, not a permanent choice.</a:t>
            </a:r>
            <a:endParaRPr lang="en-US" sz="1200" dirty="0"/>
          </a:p>
        </p:txBody>
      </p:sp>
      <p:sp>
        <p:nvSpPr>
          <p:cNvPr id="16" name="Shape 13"/>
          <p:cNvSpPr/>
          <p:nvPr/>
        </p:nvSpPr>
        <p:spPr>
          <a:xfrm>
            <a:off x="2834640" y="3474720"/>
            <a:ext cx="6035040" cy="1463040"/>
          </a:xfrm>
          <a:prstGeom prst="rect">
            <a:avLst/>
          </a:prstGeom>
          <a:solidFill>
            <a:srgbClr val="D5E8F0"/>
          </a:solidFill>
          <a:ln w="12700">
            <a:solidFill>
              <a:srgbClr val="003366"/>
            </a:solidFill>
            <a:prstDash val="solid"/>
          </a:ln>
        </p:spPr>
      </p:sp>
      <p:sp>
        <p:nvSpPr>
          <p:cNvPr id="17" name="Shape 14"/>
          <p:cNvSpPr/>
          <p:nvPr/>
        </p:nvSpPr>
        <p:spPr>
          <a:xfrm>
            <a:off x="2834640" y="3474720"/>
            <a:ext cx="73152" cy="1463040"/>
          </a:xfrm>
          <a:prstGeom prst="rect">
            <a:avLst/>
          </a:prstGeom>
          <a:solidFill>
            <a:srgbClr val="003366"/>
          </a:solidFill>
          <a:ln w="12700">
            <a:solidFill>
              <a:srgbClr val="003366"/>
            </a:solidFill>
            <a:prstDash val="solid"/>
          </a:ln>
        </p:spPr>
      </p:sp>
      <p:sp>
        <p:nvSpPr>
          <p:cNvPr id="18" name="Text 15"/>
          <p:cNvSpPr/>
          <p:nvPr/>
        </p:nvSpPr>
        <p:spPr>
          <a:xfrm>
            <a:off x="2971800" y="3538728"/>
            <a:ext cx="5806440" cy="274320"/>
          </a:xfrm>
          <a:prstGeom prst="rect">
            <a:avLst/>
          </a:prstGeom>
          <a:noFill/>
          <a:ln/>
        </p:spPr>
        <p:txBody>
          <a:bodyPr wrap="square" rtlCol="0" anchor="ctr"/>
          <a:lstStyle/>
          <a:p>
            <a:pPr indent="0" marL="0">
              <a:buNone/>
            </a:pPr>
            <a:r>
              <a:rPr lang="en-US" sz="900" b="1" spc="200" kern="0" dirty="0">
                <a:solidFill>
                  <a:srgbClr val="003366"/>
                </a:solidFill>
                <a:latin typeface="Arial" pitchFamily="34" charset="0"/>
                <a:ea typeface="Arial" pitchFamily="34" charset="-122"/>
                <a:cs typeface="Arial" pitchFamily="34" charset="-120"/>
              </a:rPr>
              <a:t>ITS QUESTION</a:t>
            </a:r>
            <a:endParaRPr lang="en-US" sz="900" dirty="0"/>
          </a:p>
        </p:txBody>
      </p:sp>
      <p:sp>
        <p:nvSpPr>
          <p:cNvPr id="19" name="Text 16"/>
          <p:cNvSpPr/>
          <p:nvPr/>
        </p:nvSpPr>
        <p:spPr>
          <a:xfrm>
            <a:off x="2971800" y="3813048"/>
            <a:ext cx="5806440" cy="1051560"/>
          </a:xfrm>
          <a:prstGeom prst="rect">
            <a:avLst/>
          </a:prstGeom>
          <a:noFill/>
          <a:ln/>
        </p:spPr>
        <p:txBody>
          <a:bodyPr wrap="square" rtlCol="0" anchor="ctr"/>
          <a:lstStyle/>
          <a:p>
            <a:pPr indent="0" marL="0">
              <a:buNone/>
            </a:pPr>
            <a:r>
              <a:rPr lang="en-US" sz="1100" dirty="0">
                <a:solidFill>
                  <a:srgbClr val="333333"/>
                </a:solidFill>
                <a:latin typeface="Arial" pitchFamily="34" charset="0"/>
                <a:ea typeface="Arial" pitchFamily="34" charset="-122"/>
                <a:cs typeface="Arial" pitchFamily="34" charset="-120"/>
              </a:rPr>
              <a:t>Is AKS available for a team-managed workload? Can our team have self-service deployment and log access? If an interim option is needed for PoC, can ITS confirm AKS remains the production path and outline the migration process?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0" cy="5143500"/>
          </a:xfrm>
          <a:prstGeom prst="rect">
            <a:avLst/>
          </a:prstGeom>
          <a:solidFill>
            <a:srgbClr val="37474F"/>
          </a:solidFill>
          <a:ln w="12700">
            <a:solidFill>
              <a:srgbClr val="37474F"/>
            </a:solidFill>
            <a:prstDash val="solid"/>
          </a:ln>
        </p:spPr>
      </p:sp>
      <p:sp>
        <p:nvSpPr>
          <p:cNvPr id="3" name="Text 1"/>
          <p:cNvSpPr/>
          <p:nvPr/>
        </p:nvSpPr>
        <p:spPr>
          <a:xfrm>
            <a:off x="45720" y="228600"/>
            <a:ext cx="2468880" cy="320040"/>
          </a:xfrm>
          <a:prstGeom prst="rect">
            <a:avLst/>
          </a:prstGeom>
          <a:noFill/>
          <a:ln/>
        </p:spPr>
        <p:txBody>
          <a:bodyPr wrap="square" rtlCol="0" anchor="ctr"/>
          <a:lstStyle/>
          <a:p>
            <a:pPr algn="ctr" indent="0" marL="0">
              <a:buNone/>
            </a:pPr>
            <a:r>
              <a:rPr lang="en-US" sz="900" b="1" spc="400" kern="0" dirty="0">
                <a:solidFill>
                  <a:srgbClr val="FFFFFF"/>
                </a:solidFill>
                <a:latin typeface="Arial" pitchFamily="34" charset="0"/>
                <a:ea typeface="Arial" pitchFamily="34" charset="-122"/>
                <a:cs typeface="Arial" pitchFamily="34" charset="-120"/>
              </a:rPr>
              <a:t>COMPONENT</a:t>
            </a:r>
            <a:endParaRPr lang="en-US" sz="900" dirty="0"/>
          </a:p>
        </p:txBody>
      </p:sp>
      <p:sp>
        <p:nvSpPr>
          <p:cNvPr id="4" name="Text 2"/>
          <p:cNvSpPr/>
          <p:nvPr/>
        </p:nvSpPr>
        <p:spPr>
          <a:xfrm>
            <a:off x="45720" y="502920"/>
            <a:ext cx="2468880" cy="1005840"/>
          </a:xfrm>
          <a:prstGeom prst="rect">
            <a:avLst/>
          </a:prstGeom>
          <a:noFill/>
          <a:ln/>
        </p:spPr>
        <p:txBody>
          <a:bodyPr wrap="square" rtlCol="0" anchor="ctr"/>
          <a:lstStyle/>
          <a:p>
            <a:pPr algn="ctr" indent="0" marL="0">
              <a:buNone/>
            </a:pPr>
            <a:r>
              <a:rPr lang="en-US" sz="7200" b="1" dirty="0">
                <a:solidFill>
                  <a:srgbClr val="FFFFFF"/>
                </a:solidFill>
                <a:latin typeface="Arial" pitchFamily="34" charset="0"/>
                <a:ea typeface="Arial" pitchFamily="34" charset="-122"/>
                <a:cs typeface="Arial" pitchFamily="34" charset="-120"/>
              </a:rPr>
              <a:t>6</a:t>
            </a:r>
            <a:endParaRPr lang="en-US" sz="7200" dirty="0"/>
          </a:p>
        </p:txBody>
      </p:sp>
      <p:pic>
        <p:nvPicPr>
          <p:cNvPr id="5" name="Image 0" descr="preencoded.png">    </p:cNvPr>
          <p:cNvPicPr>
            <a:picLocks noChangeAspect="1"/>
          </p:cNvPicPr>
          <p:nvPr/>
        </p:nvPicPr>
        <p:blipFill>
          <a:blip r:embed="rId1"/>
          <a:stretch>
            <a:fillRect/>
          </a:stretch>
        </p:blipFill>
        <p:spPr>
          <a:xfrm>
            <a:off x="914400" y="1600200"/>
            <a:ext cx="731520" cy="731520"/>
          </a:xfrm>
          <a:prstGeom prst="rect">
            <a:avLst/>
          </a:prstGeom>
        </p:spPr>
      </p:pic>
      <p:sp>
        <p:nvSpPr>
          <p:cNvPr id="6" name="Text 3"/>
          <p:cNvSpPr/>
          <p:nvPr/>
        </p:nvSpPr>
        <p:spPr>
          <a:xfrm>
            <a:off x="91440" y="2468880"/>
            <a:ext cx="2377440" cy="822960"/>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Audit Trail &amp; Monitoring</a:t>
            </a:r>
            <a:endParaRPr lang="en-US" sz="1500" dirty="0"/>
          </a:p>
        </p:txBody>
      </p:sp>
      <p:sp>
        <p:nvSpPr>
          <p:cNvPr id="7" name="Text 4"/>
          <p:cNvSpPr/>
          <p:nvPr/>
        </p:nvSpPr>
        <p:spPr>
          <a:xfrm>
            <a:off x="91440" y="3246120"/>
            <a:ext cx="2377440" cy="457200"/>
          </a:xfrm>
          <a:prstGeom prst="rect">
            <a:avLst/>
          </a:prstGeom>
          <a:noFill/>
          <a:ln/>
        </p:spPr>
        <p:txBody>
          <a:bodyPr wrap="square" rtlCol="0" anchor="ctr"/>
          <a:lstStyle/>
          <a:p>
            <a:pPr algn="ctr" indent="0" marL="0">
              <a:buNone/>
            </a:pPr>
            <a:r>
              <a:rPr lang="en-US" sz="1000" i="1" dirty="0">
                <a:solidFill>
                  <a:srgbClr val="DDDDDD"/>
                </a:solidFill>
                <a:latin typeface="Arial" pitchFamily="34" charset="0"/>
                <a:ea typeface="Arial" pitchFamily="34" charset="-122"/>
                <a:cs typeface="Arial" pitchFamily="34" charset="-120"/>
              </a:rPr>
              <a:t>Azure Monitor / SQL</a:t>
            </a:r>
            <a:endParaRPr lang="en-US" sz="1000" dirty="0"/>
          </a:p>
        </p:txBody>
      </p:sp>
      <p:sp>
        <p:nvSpPr>
          <p:cNvPr id="8" name="Text 5"/>
          <p:cNvSpPr/>
          <p:nvPr/>
        </p:nvSpPr>
        <p:spPr>
          <a:xfrm>
            <a:off x="2834640" y="137160"/>
            <a:ext cx="6035040" cy="320040"/>
          </a:xfrm>
          <a:prstGeom prst="rect">
            <a:avLst/>
          </a:prstGeom>
          <a:noFill/>
          <a:ln/>
        </p:spPr>
        <p:txBody>
          <a:bodyPr wrap="square" rtlCol="0" anchor="ctr"/>
          <a:lstStyle/>
          <a:p>
            <a:pPr indent="0" marL="0">
              <a:buNone/>
            </a:pPr>
            <a:r>
              <a:rPr lang="en-US" sz="1000" b="1" spc="200" kern="0" dirty="0">
                <a:solidFill>
                  <a:srgbClr val="37474F"/>
                </a:solidFill>
                <a:latin typeface="Arial" pitchFamily="34" charset="0"/>
                <a:ea typeface="Arial" pitchFamily="34" charset="-122"/>
                <a:cs typeface="Arial" pitchFamily="34" charset="-120"/>
              </a:rPr>
              <a:t>What it does</a:t>
            </a:r>
            <a:endParaRPr lang="en-US" sz="1000" dirty="0"/>
          </a:p>
        </p:txBody>
      </p:sp>
      <p:sp>
        <p:nvSpPr>
          <p:cNvPr id="9" name="Text 6"/>
          <p:cNvSpPr/>
          <p:nvPr/>
        </p:nvSpPr>
        <p:spPr>
          <a:xfrm>
            <a:off x="2834640" y="438912"/>
            <a:ext cx="6035040" cy="777240"/>
          </a:xfrm>
          <a:prstGeom prst="rect">
            <a:avLst/>
          </a:prstGeom>
          <a:noFill/>
          <a:ln/>
        </p:spPr>
        <p:txBody>
          <a:bodyPr wrap="square" rtlCol="0" anchor="ctr"/>
          <a:lstStyle/>
          <a:p>
            <a:pPr indent="0" marL="0">
              <a:buNone/>
            </a:pPr>
            <a:r>
              <a:rPr lang="en-US" sz="1200" dirty="0">
                <a:solidFill>
                  <a:srgbClr val="222222"/>
                </a:solidFill>
                <a:latin typeface="Arial" pitchFamily="34" charset="0"/>
                <a:ea typeface="Arial" pitchFamily="34" charset="-122"/>
                <a:cs typeface="Arial" pitchFamily="34" charset="-120"/>
              </a:rPr>
              <a:t>A complete, permanent record of everything the system does: what inputs were used, which specification version was approved, who approved it, what the output was, what validation checks found, and any human overrides with justifications.</a:t>
            </a:r>
            <a:endParaRPr lang="en-US" sz="1200" dirty="0"/>
          </a:p>
        </p:txBody>
      </p:sp>
      <p:sp>
        <p:nvSpPr>
          <p:cNvPr id="10" name="Shape 7"/>
          <p:cNvSpPr/>
          <p:nvPr/>
        </p:nvSpPr>
        <p:spPr>
          <a:xfrm>
            <a:off x="2834640" y="1261872"/>
            <a:ext cx="6035040" cy="27432"/>
          </a:xfrm>
          <a:prstGeom prst="rect">
            <a:avLst/>
          </a:prstGeom>
          <a:solidFill>
            <a:srgbClr val="EEEEEE"/>
          </a:solidFill>
          <a:ln w="12700">
            <a:solidFill>
              <a:srgbClr val="EEEEEE"/>
            </a:solidFill>
            <a:prstDash val="solid"/>
          </a:ln>
        </p:spPr>
      </p:sp>
      <p:sp>
        <p:nvSpPr>
          <p:cNvPr id="11" name="Text 8"/>
          <p:cNvSpPr/>
          <p:nvPr/>
        </p:nvSpPr>
        <p:spPr>
          <a:xfrm>
            <a:off x="2834640" y="1371600"/>
            <a:ext cx="6035040" cy="320040"/>
          </a:xfrm>
          <a:prstGeom prst="rect">
            <a:avLst/>
          </a:prstGeom>
          <a:noFill/>
          <a:ln/>
        </p:spPr>
        <p:txBody>
          <a:bodyPr wrap="square" rtlCol="0" anchor="ctr"/>
          <a:lstStyle/>
          <a:p>
            <a:pPr indent="0" marL="0">
              <a:buNone/>
            </a:pPr>
            <a:r>
              <a:rPr lang="en-US" sz="1000" b="1" spc="200" kern="0" dirty="0">
                <a:solidFill>
                  <a:srgbClr val="37474F"/>
                </a:solidFill>
                <a:latin typeface="Arial" pitchFamily="34" charset="0"/>
                <a:ea typeface="Arial" pitchFamily="34" charset="-122"/>
                <a:cs typeface="Arial" pitchFamily="34" charset="-120"/>
              </a:rPr>
              <a:t>Why we need it</a:t>
            </a:r>
            <a:endParaRPr lang="en-US" sz="1000" dirty="0"/>
          </a:p>
        </p:txBody>
      </p:sp>
      <p:sp>
        <p:nvSpPr>
          <p:cNvPr id="12" name="Text 9"/>
          <p:cNvSpPr/>
          <p:nvPr/>
        </p:nvSpPr>
        <p:spPr>
          <a:xfrm>
            <a:off x="2834640" y="1673352"/>
            <a:ext cx="6035040" cy="777240"/>
          </a:xfrm>
          <a:prstGeom prst="rect">
            <a:avLst/>
          </a:prstGeom>
          <a:noFill/>
          <a:ln/>
        </p:spPr>
        <p:txBody>
          <a:bodyPr wrap="square" rtlCol="0" anchor="ctr"/>
          <a:lstStyle/>
          <a:p>
            <a:pPr indent="0" marL="0">
              <a:buNone/>
            </a:pPr>
            <a:r>
              <a:rPr lang="en-US" sz="1200" dirty="0">
                <a:solidFill>
                  <a:srgbClr val="222222"/>
                </a:solidFill>
                <a:latin typeface="Arial" pitchFamily="34" charset="0"/>
                <a:ea typeface="Arial" pitchFamily="34" charset="-122"/>
                <a:cs typeface="Arial" pitchFamily="34" charset="-120"/>
              </a:rPr>
              <a:t>This system feeds official World Bank poverty statistics. Any result must be fully explainable and reproducible at any future point. The audit trail is the accountability mechanism — it protects both the statistical outputs and the team that produces them. It also allows us to detect and investigate anomalies without waiting for ITS assistance.</a:t>
            </a:r>
            <a:endParaRPr lang="en-US" sz="1200" dirty="0"/>
          </a:p>
        </p:txBody>
      </p:sp>
      <p:sp>
        <p:nvSpPr>
          <p:cNvPr id="13" name="Shape 10"/>
          <p:cNvSpPr/>
          <p:nvPr/>
        </p:nvSpPr>
        <p:spPr>
          <a:xfrm>
            <a:off x="2834640" y="2496312"/>
            <a:ext cx="6035040" cy="27432"/>
          </a:xfrm>
          <a:prstGeom prst="rect">
            <a:avLst/>
          </a:prstGeom>
          <a:solidFill>
            <a:srgbClr val="EEEEEE"/>
          </a:solidFill>
          <a:ln w="12700">
            <a:solidFill>
              <a:srgbClr val="EEEEEE"/>
            </a:solidFill>
            <a:prstDash val="solid"/>
          </a:ln>
        </p:spPr>
      </p:sp>
      <p:sp>
        <p:nvSpPr>
          <p:cNvPr id="14" name="Text 11"/>
          <p:cNvSpPr/>
          <p:nvPr/>
        </p:nvSpPr>
        <p:spPr>
          <a:xfrm>
            <a:off x="2834640" y="2606040"/>
            <a:ext cx="6035040" cy="320040"/>
          </a:xfrm>
          <a:prstGeom prst="rect">
            <a:avLst/>
          </a:prstGeom>
          <a:noFill/>
          <a:ln/>
        </p:spPr>
        <p:txBody>
          <a:bodyPr wrap="square" rtlCol="0" anchor="ctr"/>
          <a:lstStyle/>
          <a:p>
            <a:pPr indent="0" marL="0">
              <a:buNone/>
            </a:pPr>
            <a:r>
              <a:rPr lang="en-US" sz="1000" b="1" spc="200" kern="0" dirty="0">
                <a:solidFill>
                  <a:srgbClr val="37474F"/>
                </a:solidFill>
                <a:latin typeface="Arial" pitchFamily="34" charset="0"/>
                <a:ea typeface="Arial" pitchFamily="34" charset="-122"/>
                <a:cs typeface="Arial" pitchFamily="34" charset="-120"/>
              </a:rPr>
              <a:t>Azure service</a:t>
            </a:r>
            <a:endParaRPr lang="en-US" sz="1000" dirty="0"/>
          </a:p>
        </p:txBody>
      </p:sp>
      <p:sp>
        <p:nvSpPr>
          <p:cNvPr id="15" name="Text 12"/>
          <p:cNvSpPr/>
          <p:nvPr/>
        </p:nvSpPr>
        <p:spPr>
          <a:xfrm>
            <a:off x="2834640" y="2907792"/>
            <a:ext cx="6035040" cy="457200"/>
          </a:xfrm>
          <a:prstGeom prst="rect">
            <a:avLst/>
          </a:prstGeom>
          <a:noFill/>
          <a:ln/>
        </p:spPr>
        <p:txBody>
          <a:bodyPr wrap="square" rtlCol="0" anchor="ctr"/>
          <a:lstStyle/>
          <a:p>
            <a:pPr indent="0" marL="0">
              <a:buNone/>
            </a:pPr>
            <a:r>
              <a:rPr lang="en-US" sz="1200" dirty="0">
                <a:solidFill>
                  <a:srgbClr val="222222"/>
                </a:solidFill>
                <a:latin typeface="Arial" pitchFamily="34" charset="0"/>
                <a:ea typeface="Arial" pitchFamily="34" charset="-122"/>
                <a:cs typeface="Arial" pitchFamily="34" charset="-120"/>
              </a:rPr>
              <a:t>Structured run records → Azure SQL (same instance as Component 2). Detailed execution logs → Azure Monitor / Log Analytics. This is not exotic technology; ITS almost certainly has logging infrastructure running already. We need our jobs connected to it, and our team needs direct read access.</a:t>
            </a:r>
            <a:endParaRPr lang="en-US" sz="1200" dirty="0"/>
          </a:p>
        </p:txBody>
      </p:sp>
      <p:sp>
        <p:nvSpPr>
          <p:cNvPr id="16" name="Shape 13"/>
          <p:cNvSpPr/>
          <p:nvPr/>
        </p:nvSpPr>
        <p:spPr>
          <a:xfrm>
            <a:off x="2834640" y="3474720"/>
            <a:ext cx="6035040" cy="1463040"/>
          </a:xfrm>
          <a:prstGeom prst="rect">
            <a:avLst/>
          </a:prstGeom>
          <a:solidFill>
            <a:srgbClr val="D5E8F0"/>
          </a:solidFill>
          <a:ln w="12700">
            <a:solidFill>
              <a:srgbClr val="003366"/>
            </a:solidFill>
            <a:prstDash val="solid"/>
          </a:ln>
        </p:spPr>
      </p:sp>
      <p:sp>
        <p:nvSpPr>
          <p:cNvPr id="17" name="Shape 14"/>
          <p:cNvSpPr/>
          <p:nvPr/>
        </p:nvSpPr>
        <p:spPr>
          <a:xfrm>
            <a:off x="2834640" y="3474720"/>
            <a:ext cx="73152" cy="1463040"/>
          </a:xfrm>
          <a:prstGeom prst="rect">
            <a:avLst/>
          </a:prstGeom>
          <a:solidFill>
            <a:srgbClr val="003366"/>
          </a:solidFill>
          <a:ln w="12700">
            <a:solidFill>
              <a:srgbClr val="003366"/>
            </a:solidFill>
            <a:prstDash val="solid"/>
          </a:ln>
        </p:spPr>
      </p:sp>
      <p:sp>
        <p:nvSpPr>
          <p:cNvPr id="18" name="Text 15"/>
          <p:cNvSpPr/>
          <p:nvPr/>
        </p:nvSpPr>
        <p:spPr>
          <a:xfrm>
            <a:off x="2971800" y="3538728"/>
            <a:ext cx="5806440" cy="274320"/>
          </a:xfrm>
          <a:prstGeom prst="rect">
            <a:avLst/>
          </a:prstGeom>
          <a:noFill/>
          <a:ln/>
        </p:spPr>
        <p:txBody>
          <a:bodyPr wrap="square" rtlCol="0" anchor="ctr"/>
          <a:lstStyle/>
          <a:p>
            <a:pPr indent="0" marL="0">
              <a:buNone/>
            </a:pPr>
            <a:r>
              <a:rPr lang="en-US" sz="900" b="1" spc="200" kern="0" dirty="0">
                <a:solidFill>
                  <a:srgbClr val="003366"/>
                </a:solidFill>
                <a:latin typeface="Arial" pitchFamily="34" charset="0"/>
                <a:ea typeface="Arial" pitchFamily="34" charset="-122"/>
                <a:cs typeface="Arial" pitchFamily="34" charset="-120"/>
              </a:rPr>
              <a:t>ITS QUESTION</a:t>
            </a:r>
            <a:endParaRPr lang="en-US" sz="900" dirty="0"/>
          </a:p>
        </p:txBody>
      </p:sp>
      <p:sp>
        <p:nvSpPr>
          <p:cNvPr id="19" name="Text 16"/>
          <p:cNvSpPr/>
          <p:nvPr/>
        </p:nvSpPr>
        <p:spPr>
          <a:xfrm>
            <a:off x="2971800" y="3813048"/>
            <a:ext cx="5806440" cy="1051560"/>
          </a:xfrm>
          <a:prstGeom prst="rect">
            <a:avLst/>
          </a:prstGeom>
          <a:noFill/>
          <a:ln/>
        </p:spPr>
        <p:txBody>
          <a:bodyPr wrap="square" rtlCol="0" anchor="ctr"/>
          <a:lstStyle/>
          <a:p>
            <a:pPr indent="0" marL="0">
              <a:buNone/>
            </a:pPr>
            <a:r>
              <a:rPr lang="en-US" sz="1100" dirty="0">
                <a:solidFill>
                  <a:srgbClr val="333333"/>
                </a:solidFill>
                <a:latin typeface="Arial" pitchFamily="34" charset="0"/>
                <a:ea typeface="Arial" pitchFamily="34" charset="-122"/>
                <a:cs typeface="Arial" pitchFamily="34" charset="-120"/>
              </a:rPr>
              <a:t>What is the standard logging and monitoring service in our environment? Can our pipeline jobs be onboarded to it? What is the log retention policy? Our team needs direct read access to query logs without routing requests through ITS.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3366"/>
          </a:solidFill>
          <a:ln w="12700">
            <a:solidFill>
              <a:srgbClr val="003366"/>
            </a:solidFill>
            <a:prstDash val="solid"/>
          </a:ln>
        </p:spPr>
      </p:sp>
      <p:sp>
        <p:nvSpPr>
          <p:cNvPr id="3" name="Text 1"/>
          <p:cNvSpPr/>
          <p:nvPr/>
        </p:nvSpPr>
        <p:spPr>
          <a:xfrm>
            <a:off x="320040" y="91440"/>
            <a:ext cx="8229600" cy="475488"/>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Division of Responsibilities</a:t>
            </a:r>
            <a:endParaRPr lang="en-US" sz="2200" dirty="0"/>
          </a:p>
        </p:txBody>
      </p:sp>
      <p:sp>
        <p:nvSpPr>
          <p:cNvPr id="4" name="Shape 2"/>
          <p:cNvSpPr/>
          <p:nvPr/>
        </p:nvSpPr>
        <p:spPr>
          <a:xfrm>
            <a:off x="274320" y="822960"/>
            <a:ext cx="3931920" cy="475488"/>
          </a:xfrm>
          <a:prstGeom prst="rect">
            <a:avLst/>
          </a:prstGeom>
          <a:solidFill>
            <a:srgbClr val="003366"/>
          </a:solidFill>
          <a:ln w="12700">
            <a:solidFill>
              <a:srgbClr val="003366"/>
            </a:solidFill>
            <a:prstDash val="solid"/>
          </a:ln>
        </p:spPr>
      </p:sp>
      <p:sp>
        <p:nvSpPr>
          <p:cNvPr id="5" name="Text 3"/>
          <p:cNvSpPr/>
          <p:nvPr/>
        </p:nvSpPr>
        <p:spPr>
          <a:xfrm>
            <a:off x="274320" y="822960"/>
            <a:ext cx="3931920" cy="47548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ITS Provisions &amp; Secures</a:t>
            </a:r>
            <a:endParaRPr lang="en-US" sz="1400" dirty="0"/>
          </a:p>
        </p:txBody>
      </p:sp>
      <p:pic>
        <p:nvPicPr>
          <p:cNvPr id="6" name="Image 0" descr="preencoded.png">    </p:cNvPr>
          <p:cNvPicPr>
            <a:picLocks noChangeAspect="1"/>
          </p:cNvPicPr>
          <p:nvPr/>
        </p:nvPicPr>
        <p:blipFill>
          <a:blip r:embed="rId1"/>
          <a:stretch>
            <a:fillRect/>
          </a:stretch>
        </p:blipFill>
        <p:spPr>
          <a:xfrm>
            <a:off x="685800" y="877824"/>
            <a:ext cx="329184" cy="329184"/>
          </a:xfrm>
          <a:prstGeom prst="rect">
            <a:avLst/>
          </a:prstGeom>
        </p:spPr>
      </p:pic>
      <p:sp>
        <p:nvSpPr>
          <p:cNvPr id="7" name="Shape 4"/>
          <p:cNvSpPr/>
          <p:nvPr/>
        </p:nvSpPr>
        <p:spPr>
          <a:xfrm>
            <a:off x="274320" y="1371600"/>
            <a:ext cx="3931920" cy="530352"/>
          </a:xfrm>
          <a:prstGeom prst="rect">
            <a:avLst/>
          </a:prstGeom>
          <a:solidFill>
            <a:srgbClr val="FFFFFF"/>
          </a:solidFill>
          <a:ln w="12700">
            <a:solidFill>
              <a:srgbClr val="DDDDDD"/>
            </a:solidFill>
            <a:prstDash val="solid"/>
          </a:ln>
        </p:spPr>
      </p:sp>
      <p:sp>
        <p:nvSpPr>
          <p:cNvPr id="8" name="Text 5"/>
          <p:cNvSpPr/>
          <p:nvPr/>
        </p:nvSpPr>
        <p:spPr>
          <a:xfrm>
            <a:off x="438912" y="1408176"/>
            <a:ext cx="3657600" cy="457200"/>
          </a:xfrm>
          <a:prstGeom prst="rect">
            <a:avLst/>
          </a:prstGeom>
          <a:noFill/>
          <a:ln/>
        </p:spPr>
        <p:txBody>
          <a:bodyPr wrap="square" rtlCol="0" anchor="ctr"/>
          <a:lstStyle/>
          <a:p>
            <a:pPr indent="0" marL="0">
              <a:buNone/>
            </a:pPr>
            <a:r>
              <a:rPr lang="en-US" sz="1100" dirty="0">
                <a:solidFill>
                  <a:srgbClr val="222222"/>
                </a:solidFill>
                <a:latin typeface="Arial" pitchFamily="34" charset="0"/>
                <a:ea typeface="Arial" pitchFamily="34" charset="-122"/>
                <a:cs typeface="Arial" pitchFamily="34" charset="-120"/>
              </a:rPr>
              <a:t>Provision and secure all six cloud services</a:t>
            </a:r>
            <a:endParaRPr lang="en-US" sz="1100" dirty="0"/>
          </a:p>
        </p:txBody>
      </p:sp>
      <p:sp>
        <p:nvSpPr>
          <p:cNvPr id="9" name="Shape 6"/>
          <p:cNvSpPr/>
          <p:nvPr/>
        </p:nvSpPr>
        <p:spPr>
          <a:xfrm>
            <a:off x="274320" y="1975104"/>
            <a:ext cx="3931920" cy="530352"/>
          </a:xfrm>
          <a:prstGeom prst="rect">
            <a:avLst/>
          </a:prstGeom>
          <a:solidFill>
            <a:srgbClr val="D5E8F0"/>
          </a:solidFill>
          <a:ln w="12700">
            <a:solidFill>
              <a:srgbClr val="DDDDDD"/>
            </a:solidFill>
            <a:prstDash val="solid"/>
          </a:ln>
        </p:spPr>
      </p:sp>
      <p:sp>
        <p:nvSpPr>
          <p:cNvPr id="10" name="Text 7"/>
          <p:cNvSpPr/>
          <p:nvPr/>
        </p:nvSpPr>
        <p:spPr>
          <a:xfrm>
            <a:off x="438912" y="2011680"/>
            <a:ext cx="3657600" cy="457200"/>
          </a:xfrm>
          <a:prstGeom prst="rect">
            <a:avLst/>
          </a:prstGeom>
          <a:noFill/>
          <a:ln/>
        </p:spPr>
        <p:txBody>
          <a:bodyPr wrap="square" rtlCol="0" anchor="ctr"/>
          <a:lstStyle/>
          <a:p>
            <a:pPr indent="0" marL="0">
              <a:buNone/>
            </a:pPr>
            <a:r>
              <a:rPr lang="en-US" sz="1100" dirty="0">
                <a:solidFill>
                  <a:srgbClr val="222222"/>
                </a:solidFill>
                <a:latin typeface="Arial" pitchFamily="34" charset="0"/>
                <a:ea typeface="Arial" pitchFamily="34" charset="-122"/>
                <a:cs typeface="Arial" pitchFamily="34" charset="-120"/>
              </a:rPr>
              <a:t>Connect services so they communicate safely</a:t>
            </a:r>
            <a:endParaRPr lang="en-US" sz="1100" dirty="0"/>
          </a:p>
        </p:txBody>
      </p:sp>
      <p:sp>
        <p:nvSpPr>
          <p:cNvPr id="11" name="Shape 8"/>
          <p:cNvSpPr/>
          <p:nvPr/>
        </p:nvSpPr>
        <p:spPr>
          <a:xfrm>
            <a:off x="274320" y="2578608"/>
            <a:ext cx="3931920" cy="530352"/>
          </a:xfrm>
          <a:prstGeom prst="rect">
            <a:avLst/>
          </a:prstGeom>
          <a:solidFill>
            <a:srgbClr val="FFFFFF"/>
          </a:solidFill>
          <a:ln w="12700">
            <a:solidFill>
              <a:srgbClr val="DDDDDD"/>
            </a:solidFill>
            <a:prstDash val="solid"/>
          </a:ln>
        </p:spPr>
      </p:sp>
      <p:sp>
        <p:nvSpPr>
          <p:cNvPr id="12" name="Text 9"/>
          <p:cNvSpPr/>
          <p:nvPr/>
        </p:nvSpPr>
        <p:spPr>
          <a:xfrm>
            <a:off x="438912" y="2615184"/>
            <a:ext cx="3657600" cy="457200"/>
          </a:xfrm>
          <a:prstGeom prst="rect">
            <a:avLst/>
          </a:prstGeom>
          <a:noFill/>
          <a:ln/>
        </p:spPr>
        <p:txBody>
          <a:bodyPr wrap="square" rtlCol="0" anchor="ctr"/>
          <a:lstStyle/>
          <a:p>
            <a:pPr indent="0" marL="0">
              <a:buNone/>
            </a:pPr>
            <a:r>
              <a:rPr lang="en-US" sz="1100" dirty="0">
                <a:solidFill>
                  <a:srgbClr val="222222"/>
                </a:solidFill>
                <a:latin typeface="Arial" pitchFamily="34" charset="0"/>
                <a:ea typeface="Arial" pitchFamily="34" charset="-122"/>
                <a:cs typeface="Arial" pitchFamily="34" charset="-120"/>
              </a:rPr>
              <a:t>Ensure WBG data and security policy compliance</a:t>
            </a:r>
            <a:endParaRPr lang="en-US" sz="1100" dirty="0"/>
          </a:p>
        </p:txBody>
      </p:sp>
      <p:sp>
        <p:nvSpPr>
          <p:cNvPr id="13" name="Shape 10"/>
          <p:cNvSpPr/>
          <p:nvPr/>
        </p:nvSpPr>
        <p:spPr>
          <a:xfrm>
            <a:off x="274320" y="3182112"/>
            <a:ext cx="3931920" cy="530352"/>
          </a:xfrm>
          <a:prstGeom prst="rect">
            <a:avLst/>
          </a:prstGeom>
          <a:solidFill>
            <a:srgbClr val="D5E8F0"/>
          </a:solidFill>
          <a:ln w="12700">
            <a:solidFill>
              <a:srgbClr val="DDDDDD"/>
            </a:solidFill>
            <a:prstDash val="solid"/>
          </a:ln>
        </p:spPr>
      </p:sp>
      <p:sp>
        <p:nvSpPr>
          <p:cNvPr id="14" name="Text 11"/>
          <p:cNvSpPr/>
          <p:nvPr/>
        </p:nvSpPr>
        <p:spPr>
          <a:xfrm>
            <a:off x="438912" y="3218688"/>
            <a:ext cx="3657600" cy="457200"/>
          </a:xfrm>
          <a:prstGeom prst="rect">
            <a:avLst/>
          </a:prstGeom>
          <a:noFill/>
          <a:ln/>
        </p:spPr>
        <p:txBody>
          <a:bodyPr wrap="square" rtlCol="0" anchor="ctr"/>
          <a:lstStyle/>
          <a:p>
            <a:pPr indent="0" marL="0">
              <a:buNone/>
            </a:pPr>
            <a:r>
              <a:rPr lang="en-US" sz="1100" dirty="0">
                <a:solidFill>
                  <a:srgbClr val="222222"/>
                </a:solidFill>
                <a:latin typeface="Arial" pitchFamily="34" charset="0"/>
                <a:ea typeface="Arial" pitchFamily="34" charset="-122"/>
                <a:cs typeface="Arial" pitchFamily="34" charset="-120"/>
              </a:rPr>
              <a:t>Maintain underlying infrastructure (backups, patches, uptime)</a:t>
            </a:r>
            <a:endParaRPr lang="en-US" sz="1100" dirty="0"/>
          </a:p>
        </p:txBody>
      </p:sp>
      <p:sp>
        <p:nvSpPr>
          <p:cNvPr id="15" name="Shape 12"/>
          <p:cNvSpPr/>
          <p:nvPr/>
        </p:nvSpPr>
        <p:spPr>
          <a:xfrm>
            <a:off x="274320" y="3785616"/>
            <a:ext cx="3931920" cy="530352"/>
          </a:xfrm>
          <a:prstGeom prst="rect">
            <a:avLst/>
          </a:prstGeom>
          <a:solidFill>
            <a:srgbClr val="FFFFFF"/>
          </a:solidFill>
          <a:ln w="12700">
            <a:solidFill>
              <a:srgbClr val="DDDDDD"/>
            </a:solidFill>
            <a:prstDash val="solid"/>
          </a:ln>
        </p:spPr>
      </p:sp>
      <p:sp>
        <p:nvSpPr>
          <p:cNvPr id="16" name="Text 13"/>
          <p:cNvSpPr/>
          <p:nvPr/>
        </p:nvSpPr>
        <p:spPr>
          <a:xfrm>
            <a:off x="438912" y="3822192"/>
            <a:ext cx="3657600" cy="457200"/>
          </a:xfrm>
          <a:prstGeom prst="rect">
            <a:avLst/>
          </a:prstGeom>
          <a:noFill/>
          <a:ln/>
        </p:spPr>
        <p:txBody>
          <a:bodyPr wrap="square" rtlCol="0" anchor="ctr"/>
          <a:lstStyle/>
          <a:p>
            <a:pPr indent="0" marL="0">
              <a:buNone/>
            </a:pPr>
            <a:r>
              <a:rPr lang="en-US" sz="1100" dirty="0">
                <a:solidFill>
                  <a:srgbClr val="222222"/>
                </a:solidFill>
                <a:latin typeface="Arial" pitchFamily="34" charset="0"/>
                <a:ea typeface="Arial" pitchFamily="34" charset="-122"/>
                <a:cs typeface="Arial" pitchFamily="34" charset="-120"/>
              </a:rPr>
              <a:t>Approve which AI and cloud services are available in the tenant</a:t>
            </a:r>
            <a:endParaRPr lang="en-US" sz="1100" dirty="0"/>
          </a:p>
        </p:txBody>
      </p:sp>
      <p:sp>
        <p:nvSpPr>
          <p:cNvPr id="17" name="Shape 14"/>
          <p:cNvSpPr/>
          <p:nvPr/>
        </p:nvSpPr>
        <p:spPr>
          <a:xfrm>
            <a:off x="4937760" y="822960"/>
            <a:ext cx="3931920" cy="475488"/>
          </a:xfrm>
          <a:prstGeom prst="rect">
            <a:avLst/>
          </a:prstGeom>
          <a:solidFill>
            <a:srgbClr val="1A6B3A"/>
          </a:solidFill>
          <a:ln w="12700">
            <a:solidFill>
              <a:srgbClr val="1A6B3A"/>
            </a:solidFill>
            <a:prstDash val="solid"/>
          </a:ln>
        </p:spPr>
      </p:sp>
      <p:sp>
        <p:nvSpPr>
          <p:cNvPr id="18" name="Text 15"/>
          <p:cNvSpPr/>
          <p:nvPr/>
        </p:nvSpPr>
        <p:spPr>
          <a:xfrm>
            <a:off x="4937760" y="822960"/>
            <a:ext cx="3931920" cy="47548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GMD Team Builds &amp; Operates</a:t>
            </a:r>
            <a:endParaRPr lang="en-US" sz="1400" dirty="0"/>
          </a:p>
        </p:txBody>
      </p:sp>
      <p:pic>
        <p:nvPicPr>
          <p:cNvPr id="19" name="Image 1" descr="preencoded.png">    </p:cNvPr>
          <p:cNvPicPr>
            <a:picLocks noChangeAspect="1"/>
          </p:cNvPicPr>
          <p:nvPr/>
        </p:nvPicPr>
        <p:blipFill>
          <a:blip r:embed="rId2"/>
          <a:stretch>
            <a:fillRect/>
          </a:stretch>
        </p:blipFill>
        <p:spPr>
          <a:xfrm>
            <a:off x="5349240" y="877824"/>
            <a:ext cx="329184" cy="329184"/>
          </a:xfrm>
          <a:prstGeom prst="rect">
            <a:avLst/>
          </a:prstGeom>
        </p:spPr>
      </p:pic>
      <p:sp>
        <p:nvSpPr>
          <p:cNvPr id="20" name="Shape 16"/>
          <p:cNvSpPr/>
          <p:nvPr/>
        </p:nvSpPr>
        <p:spPr>
          <a:xfrm>
            <a:off x="4937760" y="1371600"/>
            <a:ext cx="3931920" cy="530352"/>
          </a:xfrm>
          <a:prstGeom prst="rect">
            <a:avLst/>
          </a:prstGeom>
          <a:solidFill>
            <a:srgbClr val="FFFFFF"/>
          </a:solidFill>
          <a:ln w="12700">
            <a:solidFill>
              <a:srgbClr val="DDDDDD"/>
            </a:solidFill>
            <a:prstDash val="solid"/>
          </a:ln>
        </p:spPr>
      </p:sp>
      <p:sp>
        <p:nvSpPr>
          <p:cNvPr id="21" name="Text 17"/>
          <p:cNvSpPr/>
          <p:nvPr/>
        </p:nvSpPr>
        <p:spPr>
          <a:xfrm>
            <a:off x="5102352" y="1408176"/>
            <a:ext cx="3657600" cy="457200"/>
          </a:xfrm>
          <a:prstGeom prst="rect">
            <a:avLst/>
          </a:prstGeom>
          <a:noFill/>
          <a:ln/>
        </p:spPr>
        <p:txBody>
          <a:bodyPr wrap="square" rtlCol="0" anchor="ctr"/>
          <a:lstStyle/>
          <a:p>
            <a:pPr indent="0" marL="0">
              <a:buNone/>
            </a:pPr>
            <a:r>
              <a:rPr lang="en-US" sz="1100" dirty="0">
                <a:solidFill>
                  <a:srgbClr val="222222"/>
                </a:solidFill>
                <a:latin typeface="Arial" pitchFamily="34" charset="0"/>
                <a:ea typeface="Arial" pitchFamily="34" charset="-122"/>
                <a:cs typeface="Arial" pitchFamily="34" charset="-120"/>
              </a:rPr>
              <a:t>Write and deploy all pipeline and agent code</a:t>
            </a:r>
            <a:endParaRPr lang="en-US" sz="1100" dirty="0"/>
          </a:p>
        </p:txBody>
      </p:sp>
      <p:sp>
        <p:nvSpPr>
          <p:cNvPr id="22" name="Shape 18"/>
          <p:cNvSpPr/>
          <p:nvPr/>
        </p:nvSpPr>
        <p:spPr>
          <a:xfrm>
            <a:off x="4937760" y="1975104"/>
            <a:ext cx="3931920" cy="530352"/>
          </a:xfrm>
          <a:prstGeom prst="rect">
            <a:avLst/>
          </a:prstGeom>
          <a:solidFill>
            <a:srgbClr val="E8F5E9"/>
          </a:solidFill>
          <a:ln w="12700">
            <a:solidFill>
              <a:srgbClr val="DDDDDD"/>
            </a:solidFill>
            <a:prstDash val="solid"/>
          </a:ln>
        </p:spPr>
      </p:sp>
      <p:sp>
        <p:nvSpPr>
          <p:cNvPr id="23" name="Text 19"/>
          <p:cNvSpPr/>
          <p:nvPr/>
        </p:nvSpPr>
        <p:spPr>
          <a:xfrm>
            <a:off x="5102352" y="2011680"/>
            <a:ext cx="3657600" cy="457200"/>
          </a:xfrm>
          <a:prstGeom prst="rect">
            <a:avLst/>
          </a:prstGeom>
          <a:noFill/>
          <a:ln/>
        </p:spPr>
        <p:txBody>
          <a:bodyPr wrap="square" rtlCol="0" anchor="ctr"/>
          <a:lstStyle/>
          <a:p>
            <a:pPr indent="0" marL="0">
              <a:buNone/>
            </a:pPr>
            <a:r>
              <a:rPr lang="en-US" sz="1100" dirty="0">
                <a:solidFill>
                  <a:srgbClr val="222222"/>
                </a:solidFill>
                <a:latin typeface="Arial" pitchFamily="34" charset="0"/>
                <a:ea typeface="Arial" pitchFamily="34" charset="-122"/>
                <a:cs typeface="Arial" pitchFamily="34" charset="-120"/>
              </a:rPr>
              <a:t>Design AI workflow and variable mapping logic</a:t>
            </a:r>
            <a:endParaRPr lang="en-US" sz="1100" dirty="0"/>
          </a:p>
        </p:txBody>
      </p:sp>
      <p:sp>
        <p:nvSpPr>
          <p:cNvPr id="24" name="Shape 20"/>
          <p:cNvSpPr/>
          <p:nvPr/>
        </p:nvSpPr>
        <p:spPr>
          <a:xfrm>
            <a:off x="4937760" y="2578608"/>
            <a:ext cx="3931920" cy="530352"/>
          </a:xfrm>
          <a:prstGeom prst="rect">
            <a:avLst/>
          </a:prstGeom>
          <a:solidFill>
            <a:srgbClr val="FFFFFF"/>
          </a:solidFill>
          <a:ln w="12700">
            <a:solidFill>
              <a:srgbClr val="DDDDDD"/>
            </a:solidFill>
            <a:prstDash val="solid"/>
          </a:ln>
        </p:spPr>
      </p:sp>
      <p:sp>
        <p:nvSpPr>
          <p:cNvPr id="25" name="Text 21"/>
          <p:cNvSpPr/>
          <p:nvPr/>
        </p:nvSpPr>
        <p:spPr>
          <a:xfrm>
            <a:off x="5102352" y="2615184"/>
            <a:ext cx="3657600" cy="457200"/>
          </a:xfrm>
          <a:prstGeom prst="rect">
            <a:avLst/>
          </a:prstGeom>
          <a:noFill/>
          <a:ln/>
        </p:spPr>
        <p:txBody>
          <a:bodyPr wrap="square" rtlCol="0" anchor="ctr"/>
          <a:lstStyle/>
          <a:p>
            <a:pPr indent="0" marL="0">
              <a:buNone/>
            </a:pPr>
            <a:r>
              <a:rPr lang="en-US" sz="1100" dirty="0">
                <a:solidFill>
                  <a:srgbClr val="222222"/>
                </a:solidFill>
                <a:latin typeface="Arial" pitchFamily="34" charset="0"/>
                <a:ea typeface="Arial" pitchFamily="34" charset="-122"/>
                <a:cs typeface="Arial" pitchFamily="34" charset="-120"/>
              </a:rPr>
              <a:t>Populate and maintain the rules and historical databases</a:t>
            </a:r>
            <a:endParaRPr lang="en-US" sz="1100" dirty="0"/>
          </a:p>
        </p:txBody>
      </p:sp>
      <p:sp>
        <p:nvSpPr>
          <p:cNvPr id="26" name="Shape 22"/>
          <p:cNvSpPr/>
          <p:nvPr/>
        </p:nvSpPr>
        <p:spPr>
          <a:xfrm>
            <a:off x="4937760" y="3182112"/>
            <a:ext cx="3931920" cy="530352"/>
          </a:xfrm>
          <a:prstGeom prst="rect">
            <a:avLst/>
          </a:prstGeom>
          <a:solidFill>
            <a:srgbClr val="E8F5E9"/>
          </a:solidFill>
          <a:ln w="12700">
            <a:solidFill>
              <a:srgbClr val="DDDDDD"/>
            </a:solidFill>
            <a:prstDash val="solid"/>
          </a:ln>
        </p:spPr>
      </p:sp>
      <p:sp>
        <p:nvSpPr>
          <p:cNvPr id="27" name="Text 23"/>
          <p:cNvSpPr/>
          <p:nvPr/>
        </p:nvSpPr>
        <p:spPr>
          <a:xfrm>
            <a:off x="5102352" y="3218688"/>
            <a:ext cx="3657600" cy="457200"/>
          </a:xfrm>
          <a:prstGeom prst="rect">
            <a:avLst/>
          </a:prstGeom>
          <a:noFill/>
          <a:ln/>
        </p:spPr>
        <p:txBody>
          <a:bodyPr wrap="square" rtlCol="0" anchor="ctr"/>
          <a:lstStyle/>
          <a:p>
            <a:pPr indent="0" marL="0">
              <a:buNone/>
            </a:pPr>
            <a:r>
              <a:rPr lang="en-US" sz="1100" dirty="0">
                <a:solidFill>
                  <a:srgbClr val="222222"/>
                </a:solidFill>
                <a:latin typeface="Arial" pitchFamily="34" charset="0"/>
                <a:ea typeface="Arial" pitchFamily="34" charset="-122"/>
                <a:cs typeface="Arial" pitchFamily="34" charset="-120"/>
              </a:rPr>
              <a:t>Review, approve, and override AI-generated specifications</a:t>
            </a:r>
            <a:endParaRPr lang="en-US" sz="1100" dirty="0"/>
          </a:p>
        </p:txBody>
      </p:sp>
      <p:sp>
        <p:nvSpPr>
          <p:cNvPr id="28" name="Shape 24"/>
          <p:cNvSpPr/>
          <p:nvPr/>
        </p:nvSpPr>
        <p:spPr>
          <a:xfrm>
            <a:off x="4937760" y="3785616"/>
            <a:ext cx="3931920" cy="530352"/>
          </a:xfrm>
          <a:prstGeom prst="rect">
            <a:avLst/>
          </a:prstGeom>
          <a:solidFill>
            <a:srgbClr val="FFFFFF"/>
          </a:solidFill>
          <a:ln w="12700">
            <a:solidFill>
              <a:srgbClr val="DDDDDD"/>
            </a:solidFill>
            <a:prstDash val="solid"/>
          </a:ln>
        </p:spPr>
      </p:sp>
      <p:sp>
        <p:nvSpPr>
          <p:cNvPr id="29" name="Text 25"/>
          <p:cNvSpPr/>
          <p:nvPr/>
        </p:nvSpPr>
        <p:spPr>
          <a:xfrm>
            <a:off x="5102352" y="3822192"/>
            <a:ext cx="3657600" cy="457200"/>
          </a:xfrm>
          <a:prstGeom prst="rect">
            <a:avLst/>
          </a:prstGeom>
          <a:noFill/>
          <a:ln/>
        </p:spPr>
        <p:txBody>
          <a:bodyPr wrap="square" rtlCol="0" anchor="ctr"/>
          <a:lstStyle/>
          <a:p>
            <a:pPr indent="0" marL="0">
              <a:buNone/>
            </a:pPr>
            <a:r>
              <a:rPr lang="en-US" sz="1100" dirty="0">
                <a:solidFill>
                  <a:srgbClr val="222222"/>
                </a:solidFill>
                <a:latin typeface="Arial" pitchFamily="34" charset="0"/>
                <a:ea typeface="Arial" pitchFamily="34" charset="-122"/>
                <a:cs typeface="Arial" pitchFamily="34" charset="-120"/>
              </a:rPr>
              <a:t>Monitor outputs and iterate on the system</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3366"/>
          </a:solidFill>
          <a:ln w="12700">
            <a:solidFill>
              <a:srgbClr val="003366"/>
            </a:solidFill>
            <a:prstDash val="solid"/>
          </a:ln>
        </p:spPr>
      </p:sp>
      <p:sp>
        <p:nvSpPr>
          <p:cNvPr id="3" name="Text 1"/>
          <p:cNvSpPr/>
          <p:nvPr/>
        </p:nvSpPr>
        <p:spPr>
          <a:xfrm>
            <a:off x="320040" y="91440"/>
            <a:ext cx="8229600" cy="475488"/>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Questions We Need ITS to Answer</a:t>
            </a:r>
            <a:endParaRPr lang="en-US" sz="2200" dirty="0"/>
          </a:p>
        </p:txBody>
      </p:sp>
      <p:sp>
        <p:nvSpPr>
          <p:cNvPr id="4" name="Shape 2"/>
          <p:cNvSpPr/>
          <p:nvPr/>
        </p:nvSpPr>
        <p:spPr>
          <a:xfrm>
            <a:off x="182880" y="777240"/>
            <a:ext cx="8778240" cy="475488"/>
          </a:xfrm>
          <a:prstGeom prst="rect">
            <a:avLst/>
          </a:prstGeom>
          <a:solidFill>
            <a:srgbClr val="F4F6F8"/>
          </a:solidFill>
          <a:ln w="12700">
            <a:solidFill>
              <a:srgbClr val="DDDDDD"/>
            </a:solidFill>
            <a:prstDash val="solid"/>
          </a:ln>
        </p:spPr>
      </p:sp>
      <p:sp>
        <p:nvSpPr>
          <p:cNvPr id="5" name="Shape 3"/>
          <p:cNvSpPr/>
          <p:nvPr/>
        </p:nvSpPr>
        <p:spPr>
          <a:xfrm>
            <a:off x="182880" y="777240"/>
            <a:ext cx="777240" cy="475488"/>
          </a:xfrm>
          <a:prstGeom prst="rect">
            <a:avLst/>
          </a:prstGeom>
          <a:solidFill>
            <a:srgbClr val="065A82"/>
          </a:solidFill>
          <a:ln w="12700">
            <a:solidFill>
              <a:srgbClr val="065A82"/>
            </a:solidFill>
            <a:prstDash val="solid"/>
          </a:ln>
        </p:spPr>
      </p:sp>
      <p:sp>
        <p:nvSpPr>
          <p:cNvPr id="6" name="Text 4"/>
          <p:cNvSpPr/>
          <p:nvPr/>
        </p:nvSpPr>
        <p:spPr>
          <a:xfrm>
            <a:off x="182880" y="777240"/>
            <a:ext cx="777240"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Q1</a:t>
            </a:r>
            <a:endParaRPr lang="en-US" sz="1000" dirty="0"/>
          </a:p>
        </p:txBody>
      </p:sp>
      <p:sp>
        <p:nvSpPr>
          <p:cNvPr id="7" name="Text 5"/>
          <p:cNvSpPr/>
          <p:nvPr/>
        </p:nvSpPr>
        <p:spPr>
          <a:xfrm>
            <a:off x="1024128" y="813816"/>
            <a:ext cx="7818120" cy="402336"/>
          </a:xfrm>
          <a:prstGeom prst="rect">
            <a:avLst/>
          </a:prstGeom>
          <a:noFill/>
          <a:ln/>
        </p:spPr>
        <p:txBody>
          <a:bodyPr wrap="square" rtlCol="0" anchor="ctr"/>
          <a:lstStyle/>
          <a:p>
            <a:pPr indent="0" marL="0">
              <a:buNone/>
            </a:pPr>
            <a:r>
              <a:rPr lang="en-US" sz="1100" dirty="0">
                <a:solidFill>
                  <a:srgbClr val="222222"/>
                </a:solidFill>
                <a:latin typeface="Arial" pitchFamily="34" charset="0"/>
                <a:ea typeface="Arial" pitchFamily="34" charset="-122"/>
                <a:cs typeface="Arial" pitchFamily="34" charset="-120"/>
              </a:rPr>
              <a:t>Storage: Is there an approved Azure Blob Storage environment for restricted survey microdata?</a:t>
            </a:r>
            <a:endParaRPr lang="en-US" sz="1100" dirty="0"/>
          </a:p>
        </p:txBody>
      </p:sp>
      <p:sp>
        <p:nvSpPr>
          <p:cNvPr id="8" name="Shape 6"/>
          <p:cNvSpPr/>
          <p:nvPr/>
        </p:nvSpPr>
        <p:spPr>
          <a:xfrm>
            <a:off x="182880" y="1307592"/>
            <a:ext cx="8778240" cy="475488"/>
          </a:xfrm>
          <a:prstGeom prst="rect">
            <a:avLst/>
          </a:prstGeom>
          <a:solidFill>
            <a:srgbClr val="FFFFFF"/>
          </a:solidFill>
          <a:ln w="12700">
            <a:solidFill>
              <a:srgbClr val="DDDDDD"/>
            </a:solidFill>
            <a:prstDash val="solid"/>
          </a:ln>
        </p:spPr>
      </p:sp>
      <p:sp>
        <p:nvSpPr>
          <p:cNvPr id="9" name="Shape 7"/>
          <p:cNvSpPr/>
          <p:nvPr/>
        </p:nvSpPr>
        <p:spPr>
          <a:xfrm>
            <a:off x="182880" y="1307592"/>
            <a:ext cx="777240" cy="475488"/>
          </a:xfrm>
          <a:prstGeom prst="rect">
            <a:avLst/>
          </a:prstGeom>
          <a:solidFill>
            <a:srgbClr val="065A82"/>
          </a:solidFill>
          <a:ln w="12700">
            <a:solidFill>
              <a:srgbClr val="065A82"/>
            </a:solidFill>
            <a:prstDash val="solid"/>
          </a:ln>
        </p:spPr>
      </p:sp>
      <p:sp>
        <p:nvSpPr>
          <p:cNvPr id="10" name="Text 8"/>
          <p:cNvSpPr/>
          <p:nvPr/>
        </p:nvSpPr>
        <p:spPr>
          <a:xfrm>
            <a:off x="182880" y="1307592"/>
            <a:ext cx="777240"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Q2</a:t>
            </a:r>
            <a:endParaRPr lang="en-US" sz="1000" dirty="0"/>
          </a:p>
        </p:txBody>
      </p:sp>
      <p:sp>
        <p:nvSpPr>
          <p:cNvPr id="11" name="Text 9"/>
          <p:cNvSpPr/>
          <p:nvPr/>
        </p:nvSpPr>
        <p:spPr>
          <a:xfrm>
            <a:off x="1024128" y="1344168"/>
            <a:ext cx="7818120" cy="402336"/>
          </a:xfrm>
          <a:prstGeom prst="rect">
            <a:avLst/>
          </a:prstGeom>
          <a:noFill/>
          <a:ln/>
        </p:spPr>
        <p:txBody>
          <a:bodyPr wrap="square" rtlCol="0" anchor="ctr"/>
          <a:lstStyle/>
          <a:p>
            <a:pPr indent="0" marL="0">
              <a:buNone/>
            </a:pPr>
            <a:r>
              <a:rPr lang="en-US" sz="1100" dirty="0">
                <a:solidFill>
                  <a:srgbClr val="222222"/>
                </a:solidFill>
                <a:latin typeface="Arial" pitchFamily="34" charset="0"/>
                <a:ea typeface="Arial" pitchFamily="34" charset="-122"/>
                <a:cs typeface="Arial" pitchFamily="34" charset="-120"/>
              </a:rPr>
              <a:t>Microdata Library API: Can our compute call the Microdata Library API (microdata.worldbank.org)?</a:t>
            </a:r>
            <a:endParaRPr lang="en-US" sz="1100" dirty="0"/>
          </a:p>
        </p:txBody>
      </p:sp>
      <p:sp>
        <p:nvSpPr>
          <p:cNvPr id="12" name="Shape 10"/>
          <p:cNvSpPr/>
          <p:nvPr/>
        </p:nvSpPr>
        <p:spPr>
          <a:xfrm>
            <a:off x="182880" y="1837944"/>
            <a:ext cx="8778240" cy="475488"/>
          </a:xfrm>
          <a:prstGeom prst="rect">
            <a:avLst/>
          </a:prstGeom>
          <a:solidFill>
            <a:srgbClr val="F4F6F8"/>
          </a:solidFill>
          <a:ln w="12700">
            <a:solidFill>
              <a:srgbClr val="DDDDDD"/>
            </a:solidFill>
            <a:prstDash val="solid"/>
          </a:ln>
        </p:spPr>
      </p:sp>
      <p:sp>
        <p:nvSpPr>
          <p:cNvPr id="13" name="Shape 11"/>
          <p:cNvSpPr/>
          <p:nvPr/>
        </p:nvSpPr>
        <p:spPr>
          <a:xfrm>
            <a:off x="182880" y="1837944"/>
            <a:ext cx="777240" cy="475488"/>
          </a:xfrm>
          <a:prstGeom prst="rect">
            <a:avLst/>
          </a:prstGeom>
          <a:solidFill>
            <a:srgbClr val="1A6B3A"/>
          </a:solidFill>
          <a:ln w="12700">
            <a:solidFill>
              <a:srgbClr val="1A6B3A"/>
            </a:solidFill>
            <a:prstDash val="solid"/>
          </a:ln>
        </p:spPr>
      </p:sp>
      <p:sp>
        <p:nvSpPr>
          <p:cNvPr id="14" name="Text 12"/>
          <p:cNvSpPr/>
          <p:nvPr/>
        </p:nvSpPr>
        <p:spPr>
          <a:xfrm>
            <a:off x="182880" y="1837944"/>
            <a:ext cx="777240"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Q3</a:t>
            </a:r>
            <a:endParaRPr lang="en-US" sz="1000" dirty="0"/>
          </a:p>
        </p:txBody>
      </p:sp>
      <p:sp>
        <p:nvSpPr>
          <p:cNvPr id="15" name="Text 13"/>
          <p:cNvSpPr/>
          <p:nvPr/>
        </p:nvSpPr>
        <p:spPr>
          <a:xfrm>
            <a:off x="1024128" y="1874520"/>
            <a:ext cx="7818120" cy="402336"/>
          </a:xfrm>
          <a:prstGeom prst="rect">
            <a:avLst/>
          </a:prstGeom>
          <a:noFill/>
          <a:ln/>
        </p:spPr>
        <p:txBody>
          <a:bodyPr wrap="square" rtlCol="0" anchor="ctr"/>
          <a:lstStyle/>
          <a:p>
            <a:pPr indent="0" marL="0">
              <a:buNone/>
            </a:pPr>
            <a:r>
              <a:rPr lang="en-US" sz="1100" dirty="0">
                <a:solidFill>
                  <a:srgbClr val="222222"/>
                </a:solidFill>
                <a:latin typeface="Arial" pitchFamily="34" charset="0"/>
                <a:ea typeface="Arial" pitchFamily="34" charset="-122"/>
                <a:cs typeface="Arial" pitchFamily="34" charset="-120"/>
              </a:rPr>
              <a:t>Relational DB: What is the standard approved relational database service (Azure SQL, PostgreSQL)?</a:t>
            </a:r>
            <a:endParaRPr lang="en-US" sz="1100" dirty="0"/>
          </a:p>
        </p:txBody>
      </p:sp>
      <p:sp>
        <p:nvSpPr>
          <p:cNvPr id="16" name="Shape 14"/>
          <p:cNvSpPr/>
          <p:nvPr/>
        </p:nvSpPr>
        <p:spPr>
          <a:xfrm>
            <a:off x="182880" y="2368296"/>
            <a:ext cx="8778240" cy="475488"/>
          </a:xfrm>
          <a:prstGeom prst="rect">
            <a:avLst/>
          </a:prstGeom>
          <a:solidFill>
            <a:srgbClr val="FFEBEE"/>
          </a:solidFill>
          <a:ln w="12700">
            <a:solidFill>
              <a:srgbClr val="C62828"/>
            </a:solidFill>
            <a:prstDash val="solid"/>
          </a:ln>
        </p:spPr>
      </p:sp>
      <p:sp>
        <p:nvSpPr>
          <p:cNvPr id="17" name="Shape 15"/>
          <p:cNvSpPr/>
          <p:nvPr/>
        </p:nvSpPr>
        <p:spPr>
          <a:xfrm>
            <a:off x="182880" y="2368296"/>
            <a:ext cx="777240" cy="475488"/>
          </a:xfrm>
          <a:prstGeom prst="rect">
            <a:avLst/>
          </a:prstGeom>
          <a:solidFill>
            <a:srgbClr val="C62828"/>
          </a:solidFill>
          <a:ln w="12700">
            <a:solidFill>
              <a:srgbClr val="C62828"/>
            </a:solidFill>
            <a:prstDash val="solid"/>
          </a:ln>
        </p:spPr>
      </p:sp>
      <p:sp>
        <p:nvSpPr>
          <p:cNvPr id="18" name="Text 16"/>
          <p:cNvSpPr/>
          <p:nvPr/>
        </p:nvSpPr>
        <p:spPr>
          <a:xfrm>
            <a:off x="182880" y="2368296"/>
            <a:ext cx="777240"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Q4 ★</a:t>
            </a:r>
            <a:endParaRPr lang="en-US" sz="1000" dirty="0"/>
          </a:p>
        </p:txBody>
      </p:sp>
      <p:sp>
        <p:nvSpPr>
          <p:cNvPr id="19" name="Text 17"/>
          <p:cNvSpPr/>
          <p:nvPr/>
        </p:nvSpPr>
        <p:spPr>
          <a:xfrm>
            <a:off x="1024128" y="2404872"/>
            <a:ext cx="7818120" cy="402336"/>
          </a:xfrm>
          <a:prstGeom prst="rect">
            <a:avLst/>
          </a:prstGeom>
          <a:noFill/>
          <a:ln/>
        </p:spPr>
        <p:txBody>
          <a:bodyPr wrap="square" rtlCol="0" anchor="ctr"/>
          <a:lstStyle/>
          <a:p>
            <a:pPr indent="0" marL="0">
              <a:buNone/>
            </a:pPr>
            <a:r>
              <a:rPr lang="en-US" sz="1100" b="1" dirty="0">
                <a:solidFill>
                  <a:srgbClr val="C62828"/>
                </a:solidFill>
                <a:latin typeface="Arial" pitchFamily="34" charset="0"/>
                <a:ea typeface="Arial" pitchFamily="34" charset="-122"/>
                <a:cs typeface="Arial" pitchFamily="34" charset="-120"/>
              </a:rPr>
              <a:t>PRIORITY — AI Service: Is Azure OpenAI Service approved in the WBG tenant? If not, what is the approved path?</a:t>
            </a:r>
            <a:endParaRPr lang="en-US" sz="1100" dirty="0"/>
          </a:p>
        </p:txBody>
      </p:sp>
      <p:sp>
        <p:nvSpPr>
          <p:cNvPr id="20" name="Shape 18"/>
          <p:cNvSpPr/>
          <p:nvPr/>
        </p:nvSpPr>
        <p:spPr>
          <a:xfrm>
            <a:off x="182880" y="2898648"/>
            <a:ext cx="8778240" cy="475488"/>
          </a:xfrm>
          <a:prstGeom prst="rect">
            <a:avLst/>
          </a:prstGeom>
          <a:solidFill>
            <a:srgbClr val="F4F6F8"/>
          </a:solidFill>
          <a:ln w="12700">
            <a:solidFill>
              <a:srgbClr val="DDDDDD"/>
            </a:solidFill>
            <a:prstDash val="solid"/>
          </a:ln>
        </p:spPr>
      </p:sp>
      <p:sp>
        <p:nvSpPr>
          <p:cNvPr id="21" name="Shape 19"/>
          <p:cNvSpPr/>
          <p:nvPr/>
        </p:nvSpPr>
        <p:spPr>
          <a:xfrm>
            <a:off x="182880" y="2898648"/>
            <a:ext cx="777240" cy="475488"/>
          </a:xfrm>
          <a:prstGeom prst="rect">
            <a:avLst/>
          </a:prstGeom>
          <a:solidFill>
            <a:srgbClr val="6A1B9A"/>
          </a:solidFill>
          <a:ln w="12700">
            <a:solidFill>
              <a:srgbClr val="6A1B9A"/>
            </a:solidFill>
            <a:prstDash val="solid"/>
          </a:ln>
        </p:spPr>
      </p:sp>
      <p:sp>
        <p:nvSpPr>
          <p:cNvPr id="22" name="Text 20"/>
          <p:cNvSpPr/>
          <p:nvPr/>
        </p:nvSpPr>
        <p:spPr>
          <a:xfrm>
            <a:off x="182880" y="2898648"/>
            <a:ext cx="777240"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Q5</a:t>
            </a:r>
            <a:endParaRPr lang="en-US" sz="1000" dirty="0"/>
          </a:p>
        </p:txBody>
      </p:sp>
      <p:sp>
        <p:nvSpPr>
          <p:cNvPr id="23" name="Text 21"/>
          <p:cNvSpPr/>
          <p:nvPr/>
        </p:nvSpPr>
        <p:spPr>
          <a:xfrm>
            <a:off x="1024128" y="2935224"/>
            <a:ext cx="7818120" cy="402336"/>
          </a:xfrm>
          <a:prstGeom prst="rect">
            <a:avLst/>
          </a:prstGeom>
          <a:noFill/>
          <a:ln/>
        </p:spPr>
        <p:txBody>
          <a:bodyPr wrap="square" rtlCol="0" anchor="ctr"/>
          <a:lstStyle/>
          <a:p>
            <a:pPr indent="0" marL="0">
              <a:buNone/>
            </a:pPr>
            <a:r>
              <a:rPr lang="en-US" sz="1100" dirty="0">
                <a:solidFill>
                  <a:srgbClr val="222222"/>
                </a:solidFill>
                <a:latin typeface="Arial" pitchFamily="34" charset="0"/>
                <a:ea typeface="Arial" pitchFamily="34" charset="-122"/>
                <a:cs typeface="Arial" pitchFamily="34" charset="-120"/>
              </a:rPr>
              <a:t>Vector Search: Is Azure AI Search available with vector search enabled?</a:t>
            </a:r>
            <a:endParaRPr lang="en-US" sz="1100" dirty="0"/>
          </a:p>
        </p:txBody>
      </p:sp>
      <p:sp>
        <p:nvSpPr>
          <p:cNvPr id="24" name="Shape 22"/>
          <p:cNvSpPr/>
          <p:nvPr/>
        </p:nvSpPr>
        <p:spPr>
          <a:xfrm>
            <a:off x="182880" y="3429000"/>
            <a:ext cx="8778240" cy="475488"/>
          </a:xfrm>
          <a:prstGeom prst="rect">
            <a:avLst/>
          </a:prstGeom>
          <a:solidFill>
            <a:srgbClr val="FFFFFF"/>
          </a:solidFill>
          <a:ln w="12700">
            <a:solidFill>
              <a:srgbClr val="DDDDDD"/>
            </a:solidFill>
            <a:prstDash val="solid"/>
          </a:ln>
        </p:spPr>
      </p:sp>
      <p:sp>
        <p:nvSpPr>
          <p:cNvPr id="25" name="Shape 23"/>
          <p:cNvSpPr/>
          <p:nvPr/>
        </p:nvSpPr>
        <p:spPr>
          <a:xfrm>
            <a:off x="182880" y="3429000"/>
            <a:ext cx="777240" cy="475488"/>
          </a:xfrm>
          <a:prstGeom prst="rect">
            <a:avLst/>
          </a:prstGeom>
          <a:solidFill>
            <a:srgbClr val="E65100"/>
          </a:solidFill>
          <a:ln w="12700">
            <a:solidFill>
              <a:srgbClr val="E65100"/>
            </a:solidFill>
            <a:prstDash val="solid"/>
          </a:ln>
        </p:spPr>
      </p:sp>
      <p:sp>
        <p:nvSpPr>
          <p:cNvPr id="26" name="Text 24"/>
          <p:cNvSpPr/>
          <p:nvPr/>
        </p:nvSpPr>
        <p:spPr>
          <a:xfrm>
            <a:off x="182880" y="3429000"/>
            <a:ext cx="777240"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Q6</a:t>
            </a:r>
            <a:endParaRPr lang="en-US" sz="1000" dirty="0"/>
          </a:p>
        </p:txBody>
      </p:sp>
      <p:sp>
        <p:nvSpPr>
          <p:cNvPr id="27" name="Text 25"/>
          <p:cNvSpPr/>
          <p:nvPr/>
        </p:nvSpPr>
        <p:spPr>
          <a:xfrm>
            <a:off x="1024128" y="3465576"/>
            <a:ext cx="7818120" cy="402336"/>
          </a:xfrm>
          <a:prstGeom prst="rect">
            <a:avLst/>
          </a:prstGeom>
          <a:noFill/>
          <a:ln/>
        </p:spPr>
        <p:txBody>
          <a:bodyPr wrap="square" rtlCol="0" anchor="ctr"/>
          <a:lstStyle/>
          <a:p>
            <a:pPr indent="0" marL="0">
              <a:buNone/>
            </a:pPr>
            <a:r>
              <a:rPr lang="en-US" sz="1100" dirty="0">
                <a:solidFill>
                  <a:srgbClr val="222222"/>
                </a:solidFill>
                <a:latin typeface="Arial" pitchFamily="34" charset="0"/>
                <a:ea typeface="Arial" pitchFamily="34" charset="-122"/>
                <a:cs typeface="Arial" pitchFamily="34" charset="-120"/>
              </a:rPr>
              <a:t>Compute Target: Is AKS available with self-service deployment and log access for our team?</a:t>
            </a:r>
            <a:endParaRPr lang="en-US" sz="1100" dirty="0"/>
          </a:p>
        </p:txBody>
      </p:sp>
      <p:sp>
        <p:nvSpPr>
          <p:cNvPr id="28" name="Shape 26"/>
          <p:cNvSpPr/>
          <p:nvPr/>
        </p:nvSpPr>
        <p:spPr>
          <a:xfrm>
            <a:off x="182880" y="3959352"/>
            <a:ext cx="8778240" cy="475488"/>
          </a:xfrm>
          <a:prstGeom prst="rect">
            <a:avLst/>
          </a:prstGeom>
          <a:solidFill>
            <a:srgbClr val="F4F6F8"/>
          </a:solidFill>
          <a:ln w="12700">
            <a:solidFill>
              <a:srgbClr val="DDDDDD"/>
            </a:solidFill>
            <a:prstDash val="solid"/>
          </a:ln>
        </p:spPr>
      </p:sp>
      <p:sp>
        <p:nvSpPr>
          <p:cNvPr id="29" name="Shape 27"/>
          <p:cNvSpPr/>
          <p:nvPr/>
        </p:nvSpPr>
        <p:spPr>
          <a:xfrm>
            <a:off x="182880" y="3959352"/>
            <a:ext cx="777240" cy="475488"/>
          </a:xfrm>
          <a:prstGeom prst="rect">
            <a:avLst/>
          </a:prstGeom>
          <a:solidFill>
            <a:srgbClr val="E65100"/>
          </a:solidFill>
          <a:ln w="12700">
            <a:solidFill>
              <a:srgbClr val="E65100"/>
            </a:solidFill>
            <a:prstDash val="solid"/>
          </a:ln>
        </p:spPr>
      </p:sp>
      <p:sp>
        <p:nvSpPr>
          <p:cNvPr id="30" name="Text 28"/>
          <p:cNvSpPr/>
          <p:nvPr/>
        </p:nvSpPr>
        <p:spPr>
          <a:xfrm>
            <a:off x="182880" y="3959352"/>
            <a:ext cx="777240"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Q7</a:t>
            </a:r>
            <a:endParaRPr lang="en-US" sz="1000" dirty="0"/>
          </a:p>
        </p:txBody>
      </p:sp>
      <p:sp>
        <p:nvSpPr>
          <p:cNvPr id="31" name="Text 29"/>
          <p:cNvSpPr/>
          <p:nvPr/>
        </p:nvSpPr>
        <p:spPr>
          <a:xfrm>
            <a:off x="1024128" y="3995928"/>
            <a:ext cx="7818120" cy="402336"/>
          </a:xfrm>
          <a:prstGeom prst="rect">
            <a:avLst/>
          </a:prstGeom>
          <a:noFill/>
          <a:ln/>
        </p:spPr>
        <p:txBody>
          <a:bodyPr wrap="square" rtlCol="0" anchor="ctr"/>
          <a:lstStyle/>
          <a:p>
            <a:pPr indent="0" marL="0">
              <a:buNone/>
            </a:pPr>
            <a:r>
              <a:rPr lang="en-US" sz="1100" dirty="0">
                <a:solidFill>
                  <a:srgbClr val="222222"/>
                </a:solidFill>
                <a:latin typeface="Arial" pitchFamily="34" charset="0"/>
                <a:ea typeface="Arial" pitchFamily="34" charset="-122"/>
                <a:cs typeface="Arial" pitchFamily="34" charset="-120"/>
              </a:rPr>
              <a:t>Compute PoC: If simpler interim compute is needed, can ITS confirm AKS remains the production path?</a:t>
            </a:r>
            <a:endParaRPr lang="en-US" sz="1100" dirty="0"/>
          </a:p>
        </p:txBody>
      </p:sp>
      <p:sp>
        <p:nvSpPr>
          <p:cNvPr id="32" name="Shape 30"/>
          <p:cNvSpPr/>
          <p:nvPr/>
        </p:nvSpPr>
        <p:spPr>
          <a:xfrm>
            <a:off x="182880" y="4489704"/>
            <a:ext cx="8778240" cy="475488"/>
          </a:xfrm>
          <a:prstGeom prst="rect">
            <a:avLst/>
          </a:prstGeom>
          <a:solidFill>
            <a:srgbClr val="FFFFFF"/>
          </a:solidFill>
          <a:ln w="12700">
            <a:solidFill>
              <a:srgbClr val="DDDDDD"/>
            </a:solidFill>
            <a:prstDash val="solid"/>
          </a:ln>
        </p:spPr>
      </p:sp>
      <p:sp>
        <p:nvSpPr>
          <p:cNvPr id="33" name="Shape 31"/>
          <p:cNvSpPr/>
          <p:nvPr/>
        </p:nvSpPr>
        <p:spPr>
          <a:xfrm>
            <a:off x="182880" y="4489704"/>
            <a:ext cx="777240" cy="475488"/>
          </a:xfrm>
          <a:prstGeom prst="rect">
            <a:avLst/>
          </a:prstGeom>
          <a:solidFill>
            <a:srgbClr val="37474F"/>
          </a:solidFill>
          <a:ln w="12700">
            <a:solidFill>
              <a:srgbClr val="37474F"/>
            </a:solidFill>
            <a:prstDash val="solid"/>
          </a:ln>
        </p:spPr>
      </p:sp>
      <p:sp>
        <p:nvSpPr>
          <p:cNvPr id="34" name="Text 32"/>
          <p:cNvSpPr/>
          <p:nvPr/>
        </p:nvSpPr>
        <p:spPr>
          <a:xfrm>
            <a:off x="182880" y="4489704"/>
            <a:ext cx="777240"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Q8</a:t>
            </a:r>
            <a:endParaRPr lang="en-US" sz="1000" dirty="0"/>
          </a:p>
        </p:txBody>
      </p:sp>
      <p:sp>
        <p:nvSpPr>
          <p:cNvPr id="35" name="Text 33"/>
          <p:cNvSpPr/>
          <p:nvPr/>
        </p:nvSpPr>
        <p:spPr>
          <a:xfrm>
            <a:off x="1024128" y="4526280"/>
            <a:ext cx="7818120" cy="402336"/>
          </a:xfrm>
          <a:prstGeom prst="rect">
            <a:avLst/>
          </a:prstGeom>
          <a:noFill/>
          <a:ln/>
        </p:spPr>
        <p:txBody>
          <a:bodyPr wrap="square" rtlCol="0" anchor="ctr"/>
          <a:lstStyle/>
          <a:p>
            <a:pPr indent="0" marL="0">
              <a:buNone/>
            </a:pPr>
            <a:r>
              <a:rPr lang="en-US" sz="1100" dirty="0">
                <a:solidFill>
                  <a:srgbClr val="222222"/>
                </a:solidFill>
                <a:latin typeface="Arial" pitchFamily="34" charset="0"/>
                <a:ea typeface="Arial" pitchFamily="34" charset="-122"/>
                <a:cs typeface="Arial" pitchFamily="34" charset="-120"/>
              </a:rPr>
              <a:t>Monitoring: What is the standard logging service? Can our team query logs directly without routing through ITS?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3366"/>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7722"/>
          </a:solidFill>
          <a:ln w="12700">
            <a:solidFill>
              <a:srgbClr val="E87722"/>
            </a:solidFill>
            <a:prstDash val="solid"/>
          </a:ln>
        </p:spPr>
      </p:sp>
      <p:sp>
        <p:nvSpPr>
          <p:cNvPr id="3" name="Shape 1"/>
          <p:cNvSpPr/>
          <p:nvPr/>
        </p:nvSpPr>
        <p:spPr>
          <a:xfrm>
            <a:off x="5943600" y="-457200"/>
            <a:ext cx="3657600" cy="3657600"/>
          </a:xfrm>
          <a:prstGeom prst="ellipse">
            <a:avLst/>
          </a:prstGeom>
          <a:solidFill>
            <a:srgbClr val="0071BC">
              <a:alpha val="20000"/>
            </a:srgbClr>
          </a:solidFill>
          <a:ln w="12700">
            <a:solidFill>
              <a:srgbClr val="0071BC">
                <a:alpha val="20000"/>
              </a:srgbClr>
            </a:solidFill>
            <a:prstDash val="solid"/>
          </a:ln>
        </p:spPr>
      </p:sp>
      <p:sp>
        <p:nvSpPr>
          <p:cNvPr id="4" name="Shape 2"/>
          <p:cNvSpPr/>
          <p:nvPr/>
        </p:nvSpPr>
        <p:spPr>
          <a:xfrm>
            <a:off x="6858000" y="3200400"/>
            <a:ext cx="2743200" cy="2743200"/>
          </a:xfrm>
          <a:prstGeom prst="ellipse">
            <a:avLst/>
          </a:prstGeom>
          <a:solidFill>
            <a:srgbClr val="E87722">
              <a:alpha val="15000"/>
            </a:srgbClr>
          </a:solidFill>
          <a:ln w="12700">
            <a:solidFill>
              <a:srgbClr val="E87722">
                <a:alpha val="15000"/>
              </a:srgbClr>
            </a:solidFill>
            <a:prstDash val="solid"/>
          </a:ln>
        </p:spPr>
      </p:sp>
      <p:sp>
        <p:nvSpPr>
          <p:cNvPr id="5" name="Text 3"/>
          <p:cNvSpPr/>
          <p:nvPr/>
        </p:nvSpPr>
        <p:spPr>
          <a:xfrm>
            <a:off x="365760" y="365760"/>
            <a:ext cx="6400800" cy="54864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What We Are Asking For</a:t>
            </a:r>
            <a:endParaRPr lang="en-US" sz="2800" dirty="0"/>
          </a:p>
        </p:txBody>
      </p:sp>
      <p:sp>
        <p:nvSpPr>
          <p:cNvPr id="6" name="Shape 4"/>
          <p:cNvSpPr/>
          <p:nvPr/>
        </p:nvSpPr>
        <p:spPr>
          <a:xfrm>
            <a:off x="365760" y="1143000"/>
            <a:ext cx="256032" cy="256032"/>
          </a:xfrm>
          <a:prstGeom prst="ellipse">
            <a:avLst/>
          </a:prstGeom>
          <a:solidFill>
            <a:srgbClr val="E87722"/>
          </a:solidFill>
          <a:ln w="12700">
            <a:solidFill>
              <a:srgbClr val="E87722"/>
            </a:solidFill>
            <a:prstDash val="solid"/>
          </a:ln>
        </p:spPr>
      </p:sp>
      <p:sp>
        <p:nvSpPr>
          <p:cNvPr id="7" name="Text 5"/>
          <p:cNvSpPr/>
          <p:nvPr/>
        </p:nvSpPr>
        <p:spPr>
          <a:xfrm>
            <a:off x="731520" y="1115568"/>
            <a:ext cx="6858000" cy="320040"/>
          </a:xfrm>
          <a:prstGeom prst="rect">
            <a:avLst/>
          </a:prstGeom>
          <a:noFill/>
          <a:ln/>
        </p:spPr>
        <p:txBody>
          <a:bodyPr wrap="square" rtlCol="0" anchor="ctr"/>
          <a:lstStyle/>
          <a:p>
            <a:pPr indent="0" marL="0">
              <a:buNone/>
            </a:pPr>
            <a:r>
              <a:rPr lang="en-US" sz="1300" dirty="0">
                <a:solidFill>
                  <a:srgbClr val="D0E8FF"/>
                </a:solidFill>
                <a:latin typeface="Arial" pitchFamily="34" charset="0"/>
                <a:ea typeface="Arial" pitchFamily="34" charset="-122"/>
                <a:cs typeface="Arial" pitchFamily="34" charset="-120"/>
              </a:rPr>
              <a:t>Written responses to the 8 questions in this document</a:t>
            </a:r>
            <a:endParaRPr lang="en-US" sz="1300" dirty="0"/>
          </a:p>
        </p:txBody>
      </p:sp>
      <p:sp>
        <p:nvSpPr>
          <p:cNvPr id="8" name="Shape 6"/>
          <p:cNvSpPr/>
          <p:nvPr/>
        </p:nvSpPr>
        <p:spPr>
          <a:xfrm>
            <a:off x="365760" y="1828800"/>
            <a:ext cx="256032" cy="256032"/>
          </a:xfrm>
          <a:prstGeom prst="ellipse">
            <a:avLst/>
          </a:prstGeom>
          <a:solidFill>
            <a:srgbClr val="E87722"/>
          </a:solidFill>
          <a:ln w="12700">
            <a:solidFill>
              <a:srgbClr val="E87722"/>
            </a:solidFill>
            <a:prstDash val="solid"/>
          </a:ln>
        </p:spPr>
      </p:sp>
      <p:sp>
        <p:nvSpPr>
          <p:cNvPr id="9" name="Text 7"/>
          <p:cNvSpPr/>
          <p:nvPr/>
        </p:nvSpPr>
        <p:spPr>
          <a:xfrm>
            <a:off x="731520" y="1801368"/>
            <a:ext cx="6858000" cy="320040"/>
          </a:xfrm>
          <a:prstGeom prst="rect">
            <a:avLst/>
          </a:prstGeom>
          <a:noFill/>
          <a:ln/>
        </p:spPr>
        <p:txBody>
          <a:bodyPr wrap="square" rtlCol="0" anchor="ctr"/>
          <a:lstStyle/>
          <a:p>
            <a:pPr indent="0" marL="0">
              <a:buNone/>
            </a:pPr>
            <a:r>
              <a:rPr lang="en-US" sz="1300" dirty="0">
                <a:solidFill>
                  <a:srgbClr val="D0E8FF"/>
                </a:solidFill>
                <a:latin typeface="Arial" pitchFamily="34" charset="0"/>
                <a:ea typeface="Arial" pitchFamily="34" charset="-122"/>
                <a:cs typeface="Arial" pitchFamily="34" charset="-120"/>
              </a:rPr>
              <a:t>Confirmation that AKS is the approved production compute path</a:t>
            </a:r>
            <a:endParaRPr lang="en-US" sz="1300" dirty="0"/>
          </a:p>
        </p:txBody>
      </p:sp>
      <p:sp>
        <p:nvSpPr>
          <p:cNvPr id="10" name="Shape 8"/>
          <p:cNvSpPr/>
          <p:nvPr/>
        </p:nvSpPr>
        <p:spPr>
          <a:xfrm>
            <a:off x="365760" y="2514600"/>
            <a:ext cx="256032" cy="256032"/>
          </a:xfrm>
          <a:prstGeom prst="ellipse">
            <a:avLst/>
          </a:prstGeom>
          <a:solidFill>
            <a:srgbClr val="E87722"/>
          </a:solidFill>
          <a:ln w="12700">
            <a:solidFill>
              <a:srgbClr val="E87722"/>
            </a:solidFill>
            <a:prstDash val="solid"/>
          </a:ln>
        </p:spPr>
      </p:sp>
      <p:sp>
        <p:nvSpPr>
          <p:cNvPr id="11" name="Text 9"/>
          <p:cNvSpPr/>
          <p:nvPr/>
        </p:nvSpPr>
        <p:spPr>
          <a:xfrm>
            <a:off x="731520" y="2487168"/>
            <a:ext cx="6858000" cy="320040"/>
          </a:xfrm>
          <a:prstGeom prst="rect">
            <a:avLst/>
          </a:prstGeom>
          <a:noFill/>
          <a:ln/>
        </p:spPr>
        <p:txBody>
          <a:bodyPr wrap="square" rtlCol="0" anchor="ctr"/>
          <a:lstStyle/>
          <a:p>
            <a:pPr indent="0" marL="0">
              <a:buNone/>
            </a:pPr>
            <a:r>
              <a:rPr lang="en-US" sz="1300" dirty="0">
                <a:solidFill>
                  <a:srgbClr val="D0E8FF"/>
                </a:solidFill>
                <a:latin typeface="Arial" pitchFamily="34" charset="0"/>
                <a:ea typeface="Arial" pitchFamily="34" charset="-122"/>
                <a:cs typeface="Arial" pitchFamily="34" charset="-120"/>
              </a:rPr>
              <a:t>A clear statement on Azure OpenAI Service approval status</a:t>
            </a:r>
            <a:endParaRPr lang="en-US" sz="1300" dirty="0"/>
          </a:p>
        </p:txBody>
      </p:sp>
      <p:sp>
        <p:nvSpPr>
          <p:cNvPr id="12" name="Shape 10"/>
          <p:cNvSpPr/>
          <p:nvPr/>
        </p:nvSpPr>
        <p:spPr>
          <a:xfrm>
            <a:off x="365760" y="3200400"/>
            <a:ext cx="256032" cy="256032"/>
          </a:xfrm>
          <a:prstGeom prst="ellipse">
            <a:avLst/>
          </a:prstGeom>
          <a:solidFill>
            <a:srgbClr val="E87722"/>
          </a:solidFill>
          <a:ln w="12700">
            <a:solidFill>
              <a:srgbClr val="E87722"/>
            </a:solidFill>
            <a:prstDash val="solid"/>
          </a:ln>
        </p:spPr>
      </p:sp>
      <p:sp>
        <p:nvSpPr>
          <p:cNvPr id="13" name="Text 11"/>
          <p:cNvSpPr/>
          <p:nvPr/>
        </p:nvSpPr>
        <p:spPr>
          <a:xfrm>
            <a:off x="731520" y="3172968"/>
            <a:ext cx="6858000" cy="320040"/>
          </a:xfrm>
          <a:prstGeom prst="rect">
            <a:avLst/>
          </a:prstGeom>
          <a:noFill/>
          <a:ln/>
        </p:spPr>
        <p:txBody>
          <a:bodyPr wrap="square" rtlCol="0" anchor="ctr"/>
          <a:lstStyle/>
          <a:p>
            <a:pPr indent="0" marL="0">
              <a:buNone/>
            </a:pPr>
            <a:r>
              <a:rPr lang="en-US" sz="1300" dirty="0">
                <a:solidFill>
                  <a:srgbClr val="D0E8FF"/>
                </a:solidFill>
                <a:latin typeface="Arial" pitchFamily="34" charset="0"/>
                <a:ea typeface="Arial" pitchFamily="34" charset="-122"/>
                <a:cs typeface="Arial" pitchFamily="34" charset="-120"/>
              </a:rPr>
              <a:t>Self-service deployment and log access for the GMD team</a:t>
            </a:r>
            <a:endParaRPr lang="en-US" sz="1300" dirty="0"/>
          </a:p>
        </p:txBody>
      </p:sp>
      <p:sp>
        <p:nvSpPr>
          <p:cNvPr id="14" name="Shape 12"/>
          <p:cNvSpPr/>
          <p:nvPr/>
        </p:nvSpPr>
        <p:spPr>
          <a:xfrm>
            <a:off x="365760" y="3886200"/>
            <a:ext cx="256032" cy="256032"/>
          </a:xfrm>
          <a:prstGeom prst="ellipse">
            <a:avLst/>
          </a:prstGeom>
          <a:solidFill>
            <a:srgbClr val="E87722"/>
          </a:solidFill>
          <a:ln w="12700">
            <a:solidFill>
              <a:srgbClr val="E87722"/>
            </a:solidFill>
            <a:prstDash val="solid"/>
          </a:ln>
        </p:spPr>
      </p:sp>
      <p:sp>
        <p:nvSpPr>
          <p:cNvPr id="15" name="Text 13"/>
          <p:cNvSpPr/>
          <p:nvPr/>
        </p:nvSpPr>
        <p:spPr>
          <a:xfrm>
            <a:off x="731520" y="3858768"/>
            <a:ext cx="6858000" cy="320040"/>
          </a:xfrm>
          <a:prstGeom prst="rect">
            <a:avLst/>
          </a:prstGeom>
          <a:noFill/>
          <a:ln/>
        </p:spPr>
        <p:txBody>
          <a:bodyPr wrap="square" rtlCol="0" anchor="ctr"/>
          <a:lstStyle/>
          <a:p>
            <a:pPr indent="0" marL="0">
              <a:buNone/>
            </a:pPr>
            <a:r>
              <a:rPr lang="en-US" sz="1300" dirty="0">
                <a:solidFill>
                  <a:srgbClr val="D0E8FF"/>
                </a:solidFill>
                <a:latin typeface="Arial" pitchFamily="34" charset="0"/>
                <a:ea typeface="Arial" pitchFamily="34" charset="-122"/>
                <a:cs typeface="Arial" pitchFamily="34" charset="-120"/>
              </a:rPr>
              <a:t>Guidance on the simplest approved path for the PoC phase</a:t>
            </a:r>
            <a:endParaRPr lang="en-US" sz="1300" dirty="0"/>
          </a:p>
        </p:txBody>
      </p:sp>
      <p:sp>
        <p:nvSpPr>
          <p:cNvPr id="16" name="Shape 14"/>
          <p:cNvSpPr/>
          <p:nvPr/>
        </p:nvSpPr>
        <p:spPr>
          <a:xfrm>
            <a:off x="365760" y="4617720"/>
            <a:ext cx="8412480" cy="36576"/>
          </a:xfrm>
          <a:prstGeom prst="rect">
            <a:avLst/>
          </a:prstGeom>
          <a:solidFill>
            <a:srgbClr val="E87722"/>
          </a:solidFill>
          <a:ln w="12700">
            <a:solidFill>
              <a:srgbClr val="E87722"/>
            </a:solidFill>
            <a:prstDash val="solid"/>
          </a:ln>
        </p:spPr>
      </p:sp>
      <p:sp>
        <p:nvSpPr>
          <p:cNvPr id="17" name="Text 15"/>
          <p:cNvSpPr/>
          <p:nvPr/>
        </p:nvSpPr>
        <p:spPr>
          <a:xfrm>
            <a:off x="365760" y="4727448"/>
            <a:ext cx="8412480" cy="274320"/>
          </a:xfrm>
          <a:prstGeom prst="rect">
            <a:avLst/>
          </a:prstGeom>
          <a:noFill/>
          <a:ln/>
        </p:spPr>
        <p:txBody>
          <a:bodyPr wrap="square" rtlCol="0" anchor="ctr"/>
          <a:lstStyle/>
          <a:p>
            <a:pPr indent="0" marL="0">
              <a:buNone/>
            </a:pPr>
            <a:r>
              <a:rPr lang="en-US" sz="900" dirty="0">
                <a:solidFill>
                  <a:srgbClr val="555555"/>
                </a:solidFill>
                <a:latin typeface="Arial" pitchFamily="34" charset="0"/>
                <a:ea typeface="Arial" pitchFamily="34" charset="-122"/>
                <a:cs typeface="Arial" pitchFamily="34" charset="-120"/>
              </a:rPr>
              <a:t>GMD Harmonization Team  |  Development Data Group  |  World Bank Group  |  May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GMD AI Harmonization — Infrastructure Overview</dc:title>
  <dc:subject>PptxGenJS Presentation</dc:subject>
  <dc:creator>GMD Harmonization Team</dc:creator>
  <cp:lastModifiedBy>GMD Harmonization Team</cp:lastModifiedBy>
  <cp:revision>1</cp:revision>
  <dcterms:created xsi:type="dcterms:W3CDTF">2026-05-01T20:42:59Z</dcterms:created>
  <dcterms:modified xsi:type="dcterms:W3CDTF">2026-05-01T20:42:59Z</dcterms:modified>
</cp:coreProperties>
</file>